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3" r:id="rId7"/>
    <p:sldId id="264" r:id="rId8"/>
    <p:sldId id="265" r:id="rId9"/>
    <p:sldId id="271" r:id="rId10"/>
    <p:sldId id="269" r:id="rId11"/>
    <p:sldId id="270" r:id="rId12"/>
    <p:sldId id="268" r:id="rId13"/>
  </p:sldIdLst>
  <p:sldSz cx="18288000" cy="10287000"/>
  <p:notesSz cx="6858000" cy="9144000"/>
  <p:embeddedFontLst>
    <p:embeddedFont>
      <p:font typeface="Montserrat" panose="00000500000000000000" pitchFamily="2" charset="0"/>
      <p:regular r:id="rId15"/>
      <p:bold r:id="rId16"/>
      <p:italic r:id="rId17"/>
      <p:boldItalic r:id="rId18"/>
    </p:embeddedFont>
    <p:embeddedFont>
      <p:font typeface="Montserrat Bold" panose="00000800000000000000" charset="0"/>
      <p:regular r:id="rId19"/>
    </p:embeddedFont>
    <p:embeddedFont>
      <p:font typeface="Montserrat Medium" panose="00000600000000000000" pitchFamily="2" charset="0"/>
      <p:regular r:id="rId20"/>
      <p:italic r:id="rId21"/>
    </p:embeddedFont>
    <p:embeddedFont>
      <p:font typeface="Poppins" panose="00000500000000000000" pitchFamily="2" charset="0"/>
      <p:regular r:id="rId22"/>
      <p:bold r:id="rId23"/>
      <p:italic r:id="rId24"/>
      <p:boldItalic r:id="rId25"/>
    </p:embeddedFont>
    <p:embeddedFont>
      <p:font typeface="Poppins Bold" panose="00000800000000000000" charset="0"/>
      <p:regular r:id="rId26"/>
    </p:embeddedFont>
    <p:embeddedFont>
      <p:font typeface="Red Hat Display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196" autoAdjust="0"/>
  </p:normalViewPr>
  <p:slideViewPr>
    <p:cSldViewPr>
      <p:cViewPr varScale="1">
        <p:scale>
          <a:sx n="54" d="100"/>
          <a:sy n="54" d="100"/>
        </p:scale>
        <p:origin x="754"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8CF4B-66D0-4F46-BF36-7B7007F6DA07}"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B36D1-B84C-4CB3-907A-D113D3C46D22}" type="slidenum">
              <a:rPr lang="en-US" smtClean="0"/>
              <a:t>‹#›</a:t>
            </a:fld>
            <a:endParaRPr lang="en-US"/>
          </a:p>
        </p:txBody>
      </p:sp>
    </p:spTree>
    <p:extLst>
      <p:ext uri="{BB962C8B-B14F-4D97-AF65-F5344CB8AC3E}">
        <p14:creationId xmlns:p14="http://schemas.microsoft.com/office/powerpoint/2010/main" val="2112159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demo. A user enters a start and destination; the app validates addresses; then it compares route options. I can use an example where the fastest route is shortest, but has higher model risk, while the historical and ML routes require detours but lower the respective risk scores. The most important caveat is that these are relative model scores, not real-world crash probabilities. For the demo, this is also where I explain that the hour slider is kept for transparency but does not currently drive route changes.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timeline. Week one was problem framing and basic EDA. Week two was building the GIS baseline. Week three was the important model audit: we found and removed leakage, and fixed negative sampling. Week four is product polish and presentation. Current status: the project has a functioning pipeline and app, the risk baseline is implemented, the ML model is leakage-safe, and the severity evidence is separated from route prediction. The remaining work is mainly demo polish and additional validation.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slide is future work and difficulties. The hardest difficulty is exposure data. Crash counts alone do not tell us whether a road is dangerous or simply heavily used. The second difficulty is time. The current hour slider is transparent but not truly route-changing. A more advanced version would use bicycle volume, traffic mix, truck exposure, and severity weighting. Forward validation is also important: train on past years and test whether the top-risk streets capture future crashes. Finally, the app needs UX improvements such as better address autocomplete, faster routing, and simpler language for real users.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saying that the main achievement is not a perfect model; it is a defensible product pipeline. We built the product, found a serious modelling problem, fixed it, and now have a clearer story: GIS baseline, leakage-safe ML, severity evidence, and limitations. This is exactly the kind of discipline a data science product needs before it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F6AED2-AFAC-4109-BA23-941302DEE3AE}"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5302AE-A00C-4178-9771-553044973B45}"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4BD54-27CD-403D-B312-1EEEAB587FBB}"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CB7AF2-A8BD-4BB4-A33D-8E10A11E0DFF}"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5ECACE-DB99-4701-8C54-DF66499A9FD7}" type="datetime1">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B0FB02-715D-4F43-8D0D-EF656CACB473}" type="datetime1">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9525F7-DD62-410D-B2C7-EC32ECDCE10C}" type="datetime1">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4643B3-AAEF-4E26-AAB4-FF4340E3DE93}"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B3FA7E-8C83-425E-A04F-6D1916C343BB}"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788F2C-B91D-4252-B6B9-4DFE0CF13E4B}"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FA61E2-14C8-470E-8CBD-AB5DEB20E674}"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902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829A7F-C254-408E-80F2-997CADC18542}" type="datetime1">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DFF"/>
        </a:solidFill>
        <a:effectLst/>
      </p:bgPr>
    </p:bg>
    <p:spTree>
      <p:nvGrpSpPr>
        <p:cNvPr id="1" name=""/>
        <p:cNvGrpSpPr/>
        <p:nvPr/>
      </p:nvGrpSpPr>
      <p:grpSpPr>
        <a:xfrm>
          <a:off x="0" y="0"/>
          <a:ext cx="0" cy="0"/>
          <a:chOff x="0" y="0"/>
          <a:chExt cx="0" cy="0"/>
        </a:xfrm>
      </p:grpSpPr>
      <p:sp>
        <p:nvSpPr>
          <p:cNvPr id="2" name="Freeform 2"/>
          <p:cNvSpPr/>
          <p:nvPr/>
        </p:nvSpPr>
        <p:spPr>
          <a:xfrm>
            <a:off x="-705684" y="5916613"/>
            <a:ext cx="5142350" cy="5760270"/>
          </a:xfrm>
          <a:custGeom>
            <a:avLst/>
            <a:gdLst/>
            <a:ahLst/>
            <a:cxnLst/>
            <a:rect l="l" t="t" r="r" b="b"/>
            <a:pathLst>
              <a:path w="5142350" h="5760270">
                <a:moveTo>
                  <a:pt x="0" y="0"/>
                </a:moveTo>
                <a:lnTo>
                  <a:pt x="5142351" y="0"/>
                </a:lnTo>
                <a:lnTo>
                  <a:pt x="5142351" y="5760270"/>
                </a:lnTo>
                <a:lnTo>
                  <a:pt x="0" y="57602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28700" y="1010131"/>
            <a:ext cx="7349804" cy="8248169"/>
            <a:chOff x="0" y="0"/>
            <a:chExt cx="2925382" cy="3282950"/>
          </a:xfrm>
        </p:grpSpPr>
        <p:sp>
          <p:nvSpPr>
            <p:cNvPr id="4" name="Freeform 4"/>
            <p:cNvSpPr/>
            <p:nvPr/>
          </p:nvSpPr>
          <p:spPr>
            <a:xfrm>
              <a:off x="0" y="0"/>
              <a:ext cx="2925382" cy="3282950"/>
            </a:xfrm>
            <a:custGeom>
              <a:avLst/>
              <a:gdLst/>
              <a:ahLst/>
              <a:cxnLst/>
              <a:rect l="l" t="t" r="r" b="b"/>
              <a:pathLst>
                <a:path w="2925382" h="3282950">
                  <a:moveTo>
                    <a:pt x="0" y="0"/>
                  </a:moveTo>
                  <a:lnTo>
                    <a:pt x="2256561" y="0"/>
                  </a:lnTo>
                  <a:cubicBezTo>
                    <a:pt x="2625487" y="0"/>
                    <a:pt x="2925382" y="336550"/>
                    <a:pt x="2925382" y="750570"/>
                  </a:cubicBezTo>
                  <a:lnTo>
                    <a:pt x="2925382" y="3282950"/>
                  </a:lnTo>
                  <a:lnTo>
                    <a:pt x="0" y="3282950"/>
                  </a:lnTo>
                  <a:lnTo>
                    <a:pt x="0" y="0"/>
                  </a:lnTo>
                  <a:close/>
                </a:path>
              </a:pathLst>
            </a:custGeom>
            <a:blipFill>
              <a:blip r:embed="rId3"/>
              <a:stretch>
                <a:fillRect l="-52871" r="-52871"/>
              </a:stretch>
            </a:blipFill>
          </p:spPr>
        </p:sp>
      </p:grpSp>
      <p:sp>
        <p:nvSpPr>
          <p:cNvPr id="5" name="Freeform 5"/>
          <p:cNvSpPr/>
          <p:nvPr/>
        </p:nvSpPr>
        <p:spPr>
          <a:xfrm>
            <a:off x="13631656" y="-3761484"/>
            <a:ext cx="7536670" cy="7522967"/>
          </a:xfrm>
          <a:custGeom>
            <a:avLst/>
            <a:gdLst/>
            <a:ahLst/>
            <a:cxnLst/>
            <a:rect l="l" t="t" r="r" b="b"/>
            <a:pathLst>
              <a:path w="7536670" h="7522967">
                <a:moveTo>
                  <a:pt x="0" y="0"/>
                </a:moveTo>
                <a:lnTo>
                  <a:pt x="7536670" y="0"/>
                </a:lnTo>
                <a:lnTo>
                  <a:pt x="7536670" y="7522968"/>
                </a:lnTo>
                <a:lnTo>
                  <a:pt x="0" y="7522968"/>
                </a:lnTo>
                <a:lnTo>
                  <a:pt x="0" y="0"/>
                </a:lnTo>
                <a:close/>
              </a:path>
            </a:pathLst>
          </a:custGeom>
          <a:blipFill>
            <a:blip r:embed="rId4"/>
            <a:stretch>
              <a:fillRect/>
            </a:stretch>
          </a:blipFill>
        </p:spPr>
      </p:sp>
      <p:sp>
        <p:nvSpPr>
          <p:cNvPr id="6" name="TextBox 6"/>
          <p:cNvSpPr txBox="1"/>
          <p:nvPr/>
        </p:nvSpPr>
        <p:spPr>
          <a:xfrm>
            <a:off x="9272432" y="2768600"/>
            <a:ext cx="7982431" cy="6492874"/>
          </a:xfrm>
          <a:prstGeom prst="rect">
            <a:avLst/>
          </a:prstGeom>
        </p:spPr>
        <p:txBody>
          <a:bodyPr lIns="0" tIns="0" rIns="0" bIns="0" rtlCol="0" anchor="t">
            <a:spAutoFit/>
          </a:bodyPr>
          <a:lstStyle/>
          <a:p>
            <a:pPr algn="l">
              <a:lnSpc>
                <a:spcPts val="9999"/>
              </a:lnSpc>
            </a:pPr>
            <a:r>
              <a:rPr lang="en-US" sz="9999" b="1" spc="-299">
                <a:solidFill>
                  <a:srgbClr val="001A3B"/>
                </a:solidFill>
                <a:latin typeface="Poppins Bold"/>
                <a:ea typeface="Poppins Bold"/>
                <a:cs typeface="Poppins Bold"/>
                <a:sym typeface="Poppins Bold"/>
              </a:rPr>
              <a:t> BICYCLE SAFETY ROUTING FOR BERLIN</a:t>
            </a:r>
          </a:p>
          <a:p>
            <a:pPr algn="l">
              <a:lnSpc>
                <a:spcPts val="9999"/>
              </a:lnSpc>
            </a:pPr>
            <a:endParaRPr lang="en-US" sz="9999" b="1" spc="-299">
              <a:solidFill>
                <a:srgbClr val="001A3B"/>
              </a:solidFill>
              <a:latin typeface="Poppins Bold"/>
              <a:ea typeface="Poppins Bold"/>
              <a:cs typeface="Poppins Bold"/>
              <a:sym typeface="Poppins Bold"/>
            </a:endParaRPr>
          </a:p>
        </p:txBody>
      </p:sp>
      <p:sp>
        <p:nvSpPr>
          <p:cNvPr id="7" name="TextBox 7"/>
          <p:cNvSpPr txBox="1"/>
          <p:nvPr/>
        </p:nvSpPr>
        <p:spPr>
          <a:xfrm>
            <a:off x="15236324" y="1264033"/>
            <a:ext cx="7982431" cy="424815"/>
          </a:xfrm>
          <a:prstGeom prst="rect">
            <a:avLst/>
          </a:prstGeom>
        </p:spPr>
        <p:txBody>
          <a:bodyPr lIns="0" tIns="0" rIns="0" bIns="0" rtlCol="0" anchor="t">
            <a:spAutoFit/>
          </a:bodyPr>
          <a:lstStyle/>
          <a:p>
            <a:pPr algn="l">
              <a:lnSpc>
                <a:spcPts val="3359"/>
              </a:lnSpc>
            </a:pPr>
            <a:r>
              <a:rPr lang="en-US" sz="2400" spc="-72">
                <a:solidFill>
                  <a:srgbClr val="001A3B"/>
                </a:solidFill>
                <a:latin typeface="Poppins"/>
                <a:ea typeface="Poppins"/>
                <a:cs typeface="Poppins"/>
                <a:sym typeface="Poppins"/>
              </a:rPr>
              <a:t>Elena Nicolas Yasin </a:t>
            </a:r>
          </a:p>
        </p:txBody>
      </p:sp>
      <p:sp>
        <p:nvSpPr>
          <p:cNvPr id="8" name="TextBox 8"/>
          <p:cNvSpPr txBox="1"/>
          <p:nvPr/>
        </p:nvSpPr>
        <p:spPr>
          <a:xfrm>
            <a:off x="16158902" y="328174"/>
            <a:ext cx="7982431" cy="842646"/>
          </a:xfrm>
          <a:prstGeom prst="rect">
            <a:avLst/>
          </a:prstGeom>
        </p:spPr>
        <p:txBody>
          <a:bodyPr lIns="0" tIns="0" rIns="0" bIns="0" rtlCol="0" anchor="t">
            <a:spAutoFit/>
          </a:bodyPr>
          <a:lstStyle/>
          <a:p>
            <a:pPr algn="l">
              <a:lnSpc>
                <a:spcPts val="6579"/>
              </a:lnSpc>
            </a:pPr>
            <a:r>
              <a:rPr lang="en-US" sz="4699" b="1" spc="-140">
                <a:solidFill>
                  <a:srgbClr val="001A3B"/>
                </a:solidFill>
                <a:latin typeface="Poppins Bold"/>
                <a:ea typeface="Poppins Bold"/>
                <a:cs typeface="Poppins Bold"/>
                <a:sym typeface="Poppins Bold"/>
              </a:rPr>
              <a:t>2W1C</a:t>
            </a:r>
          </a:p>
        </p:txBody>
      </p:sp>
      <p:sp>
        <p:nvSpPr>
          <p:cNvPr id="9" name="TextBox 9"/>
          <p:cNvSpPr txBox="1"/>
          <p:nvPr/>
        </p:nvSpPr>
        <p:spPr>
          <a:xfrm>
            <a:off x="9272432" y="8837967"/>
            <a:ext cx="7982431" cy="843915"/>
          </a:xfrm>
          <a:prstGeom prst="rect">
            <a:avLst/>
          </a:prstGeom>
        </p:spPr>
        <p:txBody>
          <a:bodyPr lIns="0" tIns="0" rIns="0" bIns="0" rtlCol="0" anchor="t">
            <a:spAutoFit/>
          </a:bodyPr>
          <a:lstStyle/>
          <a:p>
            <a:pPr algn="l">
              <a:lnSpc>
                <a:spcPts val="3359"/>
              </a:lnSpc>
            </a:pPr>
            <a:r>
              <a:rPr lang="en-US" sz="2400" spc="-72">
                <a:solidFill>
                  <a:srgbClr val="001A3B"/>
                </a:solidFill>
                <a:latin typeface="Poppins"/>
                <a:ea typeface="Poppins"/>
                <a:cs typeface="Poppins"/>
                <a:sym typeface="Poppins"/>
              </a:rPr>
              <a:t>Capstone project · GIS baseline + Leakage-safe ML + Severity evidence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DFF"/>
        </a:solidFill>
        <a:effectLst/>
      </p:bgPr>
    </p:bg>
    <p:spTree>
      <p:nvGrpSpPr>
        <p:cNvPr id="1" name=""/>
        <p:cNvGrpSpPr/>
        <p:nvPr/>
      </p:nvGrpSpPr>
      <p:grpSpPr>
        <a:xfrm>
          <a:off x="0" y="0"/>
          <a:ext cx="0" cy="0"/>
          <a:chOff x="0" y="0"/>
          <a:chExt cx="0" cy="0"/>
        </a:xfrm>
      </p:grpSpPr>
      <p:sp>
        <p:nvSpPr>
          <p:cNvPr id="2" name="TextBox 2"/>
          <p:cNvSpPr txBox="1"/>
          <p:nvPr/>
        </p:nvSpPr>
        <p:spPr>
          <a:xfrm>
            <a:off x="264648" y="367867"/>
            <a:ext cx="11143251" cy="3920500"/>
          </a:xfrm>
          <a:prstGeom prst="rect">
            <a:avLst/>
          </a:prstGeom>
        </p:spPr>
        <p:txBody>
          <a:bodyPr lIns="0" tIns="0" rIns="0" bIns="0" rtlCol="0" anchor="t">
            <a:spAutoFit/>
          </a:bodyPr>
          <a:lstStyle/>
          <a:p>
            <a:pPr marL="0" lvl="0" indent="0" algn="r">
              <a:lnSpc>
                <a:spcPts val="8700"/>
              </a:lnSpc>
            </a:pPr>
            <a:r>
              <a:rPr lang="en-US" sz="8700" b="1" spc="-261">
                <a:solidFill>
                  <a:srgbClr val="001A3B"/>
                </a:solidFill>
                <a:latin typeface="Poppins Bold"/>
                <a:ea typeface="Poppins Bold"/>
                <a:cs typeface="Poppins Bold"/>
                <a:sym typeface="Poppins Bold"/>
              </a:rPr>
              <a:t>1 ·</a:t>
            </a:r>
            <a:r>
              <a:rPr lang="en-US" sz="8700" b="1" u="none" strike="noStrike" spc="-261">
                <a:solidFill>
                  <a:srgbClr val="001A3B"/>
                </a:solidFill>
                <a:latin typeface="Poppins Bold"/>
                <a:ea typeface="Poppins Bold"/>
                <a:cs typeface="Poppins Bold"/>
                <a:sym typeface="Poppins Bold"/>
              </a:rPr>
              <a:t> Business Problem             And Product</a:t>
            </a:r>
          </a:p>
          <a:p>
            <a:pPr marL="0" lvl="0" indent="0" algn="l">
              <a:lnSpc>
                <a:spcPts val="12000"/>
              </a:lnSpc>
            </a:pPr>
            <a:endParaRPr lang="en-US" sz="8700" b="1" u="none" strike="noStrike" spc="-261">
              <a:solidFill>
                <a:srgbClr val="001A3B"/>
              </a:solidFill>
              <a:latin typeface="Poppins Bold"/>
              <a:ea typeface="Poppins Bold"/>
              <a:cs typeface="Poppins Bold"/>
              <a:sym typeface="Poppins Bold"/>
            </a:endParaRPr>
          </a:p>
        </p:txBody>
      </p:sp>
      <p:sp>
        <p:nvSpPr>
          <p:cNvPr id="3" name="TextBox 3"/>
          <p:cNvSpPr txBox="1"/>
          <p:nvPr/>
        </p:nvSpPr>
        <p:spPr>
          <a:xfrm>
            <a:off x="2236830" y="4802718"/>
            <a:ext cx="8082575" cy="2752725"/>
          </a:xfrm>
          <a:prstGeom prst="rect">
            <a:avLst/>
          </a:prstGeom>
        </p:spPr>
        <p:txBody>
          <a:bodyPr lIns="0" tIns="0" rIns="0" bIns="0" rtlCol="0" anchor="t">
            <a:spAutoFit/>
          </a:bodyPr>
          <a:lstStyle/>
          <a:p>
            <a:pPr marL="0" lvl="0" indent="0" algn="l">
              <a:lnSpc>
                <a:spcPts val="3120"/>
              </a:lnSpc>
              <a:spcBef>
                <a:spcPct val="0"/>
              </a:spcBef>
            </a:pPr>
            <a:r>
              <a:rPr lang="en-US" sz="2600" spc="-78">
                <a:solidFill>
                  <a:srgbClr val="001A3B"/>
                </a:solidFill>
                <a:latin typeface="Poppins"/>
                <a:ea typeface="Poppins"/>
                <a:cs typeface="Poppins"/>
                <a:sym typeface="Poppins"/>
              </a:rPr>
              <a:t>Na</a:t>
            </a:r>
            <a:r>
              <a:rPr lang="en-US" sz="2600" u="none" strike="noStrike" spc="-78">
                <a:solidFill>
                  <a:srgbClr val="001A3B"/>
                </a:solidFill>
                <a:latin typeface="Poppins"/>
                <a:ea typeface="Poppins"/>
                <a:cs typeface="Poppins"/>
                <a:sym typeface="Poppins"/>
              </a:rPr>
              <a:t>vigation apps optimize distance and </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time very well, but rarely explain route safety.</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For a cyclist, the useful question is not </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“where will the </a:t>
            </a:r>
            <a:r>
              <a:rPr lang="en-US" sz="2600" u="none" strike="noStrike" spc="-78">
                <a:solidFill>
                  <a:srgbClr val="FF3131"/>
                </a:solidFill>
                <a:latin typeface="Poppins"/>
                <a:ea typeface="Poppins"/>
                <a:cs typeface="Poppins"/>
                <a:sym typeface="Poppins"/>
              </a:rPr>
              <a:t>next crash </a:t>
            </a:r>
            <a:r>
              <a:rPr lang="en-US" sz="2600" u="none" strike="noStrike" spc="-78">
                <a:solidFill>
                  <a:srgbClr val="001A3B"/>
                </a:solidFill>
                <a:latin typeface="Poppins"/>
                <a:ea typeface="Poppins"/>
                <a:cs typeface="Poppins"/>
                <a:sym typeface="Poppins"/>
              </a:rPr>
              <a:t>happen?”</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but  “</a:t>
            </a:r>
            <a:r>
              <a:rPr lang="en-US" sz="2600" b="1" u="none" strike="noStrike" spc="-78">
                <a:solidFill>
                  <a:srgbClr val="001A3B"/>
                </a:solidFill>
                <a:latin typeface="Poppins Bold"/>
                <a:ea typeface="Poppins Bold"/>
                <a:cs typeface="Poppins Bold"/>
                <a:sym typeface="Poppins Bold"/>
              </a:rPr>
              <a:t>which route avoids historically risky street</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segments with a reasonable detour?”</a:t>
            </a:r>
          </a:p>
          <a:p>
            <a:pPr marL="0" lvl="0" indent="0" algn="l">
              <a:lnSpc>
                <a:spcPts val="3120"/>
              </a:lnSpc>
              <a:spcBef>
                <a:spcPct val="0"/>
              </a:spcBef>
            </a:pPr>
            <a:endParaRPr lang="en-US" sz="2600" u="none" strike="noStrike" spc="-78">
              <a:solidFill>
                <a:srgbClr val="001A3B"/>
              </a:solidFill>
              <a:latin typeface="Poppins"/>
              <a:ea typeface="Poppins"/>
              <a:cs typeface="Poppins"/>
              <a:sym typeface="Poppins"/>
            </a:endParaRPr>
          </a:p>
        </p:txBody>
      </p:sp>
      <p:sp>
        <p:nvSpPr>
          <p:cNvPr id="4" name="TextBox 4"/>
          <p:cNvSpPr txBox="1"/>
          <p:nvPr/>
        </p:nvSpPr>
        <p:spPr>
          <a:xfrm>
            <a:off x="2236830" y="4250268"/>
            <a:ext cx="5851400" cy="1104900"/>
          </a:xfrm>
          <a:prstGeom prst="rect">
            <a:avLst/>
          </a:prstGeom>
        </p:spPr>
        <p:txBody>
          <a:bodyPr lIns="0" tIns="0" rIns="0" bIns="0" rtlCol="0" anchor="t">
            <a:spAutoFit/>
          </a:bodyPr>
          <a:lstStyle/>
          <a:p>
            <a:pPr marL="0" lvl="0" indent="0" algn="l">
              <a:lnSpc>
                <a:spcPts val="4200"/>
              </a:lnSpc>
              <a:spcBef>
                <a:spcPct val="0"/>
              </a:spcBef>
            </a:pPr>
            <a:r>
              <a:rPr lang="en-US" sz="3500" b="1" spc="-105">
                <a:solidFill>
                  <a:srgbClr val="001A3B"/>
                </a:solidFill>
                <a:latin typeface="Poppins Bold"/>
                <a:ea typeface="Poppins Bold"/>
                <a:cs typeface="Poppins Bold"/>
                <a:sym typeface="Poppins Bold"/>
              </a:rPr>
              <a:t>CYCLIST P</a:t>
            </a:r>
            <a:r>
              <a:rPr lang="en-US" sz="3500" b="1" u="none" strike="noStrike" spc="-105">
                <a:solidFill>
                  <a:srgbClr val="001A3B"/>
                </a:solidFill>
                <a:latin typeface="Poppins Bold"/>
                <a:ea typeface="Poppins Bold"/>
                <a:cs typeface="Poppins Bold"/>
                <a:sym typeface="Poppins Bold"/>
              </a:rPr>
              <a:t>AIN POINT</a:t>
            </a:r>
          </a:p>
          <a:p>
            <a:pPr marL="0" lvl="0" indent="0" algn="l">
              <a:lnSpc>
                <a:spcPts val="4200"/>
              </a:lnSpc>
              <a:spcBef>
                <a:spcPct val="0"/>
              </a:spcBef>
            </a:pPr>
            <a:endParaRPr lang="en-US" sz="3500" b="1" u="none" strike="noStrike" spc="-105">
              <a:solidFill>
                <a:srgbClr val="001A3B"/>
              </a:solidFill>
              <a:latin typeface="Poppins Bold"/>
              <a:ea typeface="Poppins Bold"/>
              <a:cs typeface="Poppins Bold"/>
              <a:sym typeface="Poppins Bold"/>
            </a:endParaRPr>
          </a:p>
        </p:txBody>
      </p:sp>
      <p:sp>
        <p:nvSpPr>
          <p:cNvPr id="5" name="TextBox 5"/>
          <p:cNvSpPr txBox="1"/>
          <p:nvPr/>
        </p:nvSpPr>
        <p:spPr>
          <a:xfrm>
            <a:off x="12156044" y="5779030"/>
            <a:ext cx="5851400" cy="3533775"/>
          </a:xfrm>
          <a:prstGeom prst="rect">
            <a:avLst/>
          </a:prstGeom>
        </p:spPr>
        <p:txBody>
          <a:bodyPr lIns="0" tIns="0" rIns="0" bIns="0" rtlCol="0" anchor="t">
            <a:spAutoFit/>
          </a:bodyPr>
          <a:lstStyle/>
          <a:p>
            <a:pPr marL="0" lvl="0" indent="0" algn="l">
              <a:lnSpc>
                <a:spcPts val="3120"/>
              </a:lnSpc>
              <a:spcBef>
                <a:spcPct val="0"/>
              </a:spcBef>
            </a:pPr>
            <a:r>
              <a:rPr lang="en-US" sz="2600" spc="-78">
                <a:solidFill>
                  <a:srgbClr val="001A3B"/>
                </a:solidFill>
                <a:latin typeface="Poppins"/>
                <a:ea typeface="Poppins"/>
                <a:cs typeface="Poppins"/>
                <a:sym typeface="Poppins"/>
              </a:rPr>
              <a:t>2W1C</a:t>
            </a:r>
            <a:r>
              <a:rPr lang="en-US" sz="2600" u="none" strike="noStrike" spc="-78">
                <a:solidFill>
                  <a:srgbClr val="001A3B"/>
                </a:solidFill>
                <a:latin typeface="Poppins"/>
                <a:ea typeface="Poppins"/>
                <a:cs typeface="Poppins"/>
                <a:sym typeface="Poppins"/>
              </a:rPr>
              <a:t> compares three choices:</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1. Fastest route</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2. Historical GIS-risk route</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3. Leakage-safe ML road-</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risk route</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The output is a map plus</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the risk–distance trade-off.</a:t>
            </a:r>
          </a:p>
          <a:p>
            <a:pPr marL="0" lvl="0" indent="0" algn="l">
              <a:lnSpc>
                <a:spcPts val="3120"/>
              </a:lnSpc>
              <a:spcBef>
                <a:spcPct val="0"/>
              </a:spcBef>
            </a:pPr>
            <a:endParaRPr lang="en-US" sz="2600" u="none" strike="noStrike" spc="-78">
              <a:solidFill>
                <a:srgbClr val="001A3B"/>
              </a:solidFill>
              <a:latin typeface="Poppins"/>
              <a:ea typeface="Poppins"/>
              <a:cs typeface="Poppins"/>
              <a:sym typeface="Poppins"/>
            </a:endParaRPr>
          </a:p>
          <a:p>
            <a:pPr marL="0" lvl="0" indent="0" algn="l">
              <a:lnSpc>
                <a:spcPts val="3120"/>
              </a:lnSpc>
              <a:spcBef>
                <a:spcPct val="0"/>
              </a:spcBef>
            </a:pPr>
            <a:endParaRPr lang="en-US" sz="2600" u="none" strike="noStrike" spc="-78">
              <a:solidFill>
                <a:srgbClr val="001A3B"/>
              </a:solidFill>
              <a:latin typeface="Poppins"/>
              <a:ea typeface="Poppins"/>
              <a:cs typeface="Poppins"/>
              <a:sym typeface="Poppins"/>
            </a:endParaRPr>
          </a:p>
        </p:txBody>
      </p:sp>
      <p:sp>
        <p:nvSpPr>
          <p:cNvPr id="6" name="TextBox 6"/>
          <p:cNvSpPr txBox="1"/>
          <p:nvPr/>
        </p:nvSpPr>
        <p:spPr>
          <a:xfrm>
            <a:off x="12322061" y="4947770"/>
            <a:ext cx="5851400" cy="1104900"/>
          </a:xfrm>
          <a:prstGeom prst="rect">
            <a:avLst/>
          </a:prstGeom>
        </p:spPr>
        <p:txBody>
          <a:bodyPr lIns="0" tIns="0" rIns="0" bIns="0" rtlCol="0" anchor="t">
            <a:spAutoFit/>
          </a:bodyPr>
          <a:lstStyle/>
          <a:p>
            <a:pPr algn="l">
              <a:lnSpc>
                <a:spcPts val="4200"/>
              </a:lnSpc>
            </a:pPr>
            <a:r>
              <a:rPr lang="en-US" sz="3500" b="1">
                <a:solidFill>
                  <a:srgbClr val="001A3B"/>
                </a:solidFill>
                <a:latin typeface="Poppins Bold"/>
                <a:ea typeface="Poppins Bold"/>
                <a:cs typeface="Poppins Bold"/>
                <a:sym typeface="Poppins Bold"/>
              </a:rPr>
              <a:t>PRODUCT PROMISE</a:t>
            </a:r>
          </a:p>
          <a:p>
            <a:pPr algn="l">
              <a:lnSpc>
                <a:spcPts val="4200"/>
              </a:lnSpc>
            </a:pPr>
            <a:endParaRPr lang="en-US" sz="3500" b="1">
              <a:solidFill>
                <a:srgbClr val="001A3B"/>
              </a:solidFill>
              <a:latin typeface="Poppins Bold"/>
              <a:ea typeface="Poppins Bold"/>
              <a:cs typeface="Poppins Bold"/>
              <a:sym typeface="Poppins Bold"/>
            </a:endParaRPr>
          </a:p>
        </p:txBody>
      </p:sp>
      <p:sp>
        <p:nvSpPr>
          <p:cNvPr id="7" name="TextBox 7"/>
          <p:cNvSpPr txBox="1"/>
          <p:nvPr/>
        </p:nvSpPr>
        <p:spPr>
          <a:xfrm>
            <a:off x="2236830" y="8317443"/>
            <a:ext cx="9529276" cy="2752725"/>
          </a:xfrm>
          <a:prstGeom prst="rect">
            <a:avLst/>
          </a:prstGeom>
        </p:spPr>
        <p:txBody>
          <a:bodyPr lIns="0" tIns="0" rIns="0" bIns="0" rtlCol="0" anchor="t">
            <a:spAutoFit/>
          </a:bodyPr>
          <a:lstStyle/>
          <a:p>
            <a:pPr marL="0" lvl="0" indent="0" algn="l">
              <a:lnSpc>
                <a:spcPts val="3120"/>
              </a:lnSpc>
              <a:spcBef>
                <a:spcPct val="0"/>
              </a:spcBef>
            </a:pPr>
            <a:r>
              <a:rPr lang="en-US" sz="2600" spc="-78">
                <a:solidFill>
                  <a:srgbClr val="001A3B"/>
                </a:solidFill>
                <a:latin typeface="Poppins"/>
                <a:ea typeface="Poppins"/>
                <a:cs typeface="Poppins"/>
                <a:sym typeface="Poppins"/>
              </a:rPr>
              <a:t>Fo</a:t>
            </a:r>
            <a:r>
              <a:rPr lang="en-US" sz="2600" u="none" strike="noStrike" spc="-78">
                <a:solidFill>
                  <a:srgbClr val="001A3B"/>
                </a:solidFill>
                <a:latin typeface="Poppins"/>
                <a:ea typeface="Poppins"/>
                <a:cs typeface="Poppins"/>
                <a:sym typeface="Poppins"/>
              </a:rPr>
              <a:t>r city mobility products, bicycle</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insurance, logistics, or public-sector planning, the value is interpretable risk-aware routing.</a:t>
            </a:r>
          </a:p>
          <a:p>
            <a:pPr marL="0" lvl="0" indent="0" algn="l">
              <a:lnSpc>
                <a:spcPts val="3120"/>
              </a:lnSpc>
              <a:spcBef>
                <a:spcPct val="0"/>
              </a:spcBef>
            </a:pPr>
            <a:r>
              <a:rPr lang="en-US" sz="2600" u="none" strike="noStrike" spc="-78">
                <a:solidFill>
                  <a:srgbClr val="001A3B"/>
                </a:solidFill>
                <a:latin typeface="Poppins"/>
                <a:ea typeface="Poppins"/>
                <a:cs typeface="Poppins"/>
                <a:sym typeface="Poppins"/>
              </a:rPr>
              <a:t>It is also auditable: the app shows where risk comes from, what the model can prove, and what it cannot prove.</a:t>
            </a:r>
          </a:p>
          <a:p>
            <a:pPr marL="0" lvl="0" indent="0" algn="l">
              <a:lnSpc>
                <a:spcPts val="3120"/>
              </a:lnSpc>
              <a:spcBef>
                <a:spcPct val="0"/>
              </a:spcBef>
            </a:pPr>
            <a:endParaRPr lang="en-US" sz="2600" u="none" strike="noStrike" spc="-78">
              <a:solidFill>
                <a:srgbClr val="001A3B"/>
              </a:solidFill>
              <a:latin typeface="Poppins"/>
              <a:ea typeface="Poppins"/>
              <a:cs typeface="Poppins"/>
              <a:sym typeface="Poppins"/>
            </a:endParaRPr>
          </a:p>
          <a:p>
            <a:pPr marL="0" lvl="0" indent="0" algn="l">
              <a:lnSpc>
                <a:spcPts val="3120"/>
              </a:lnSpc>
              <a:spcBef>
                <a:spcPct val="0"/>
              </a:spcBef>
            </a:pPr>
            <a:endParaRPr lang="en-US" sz="2600" u="none" strike="noStrike" spc="-78">
              <a:solidFill>
                <a:srgbClr val="001A3B"/>
              </a:solidFill>
              <a:latin typeface="Poppins"/>
              <a:ea typeface="Poppins"/>
              <a:cs typeface="Poppins"/>
              <a:sym typeface="Poppins"/>
            </a:endParaRPr>
          </a:p>
        </p:txBody>
      </p:sp>
      <p:sp>
        <p:nvSpPr>
          <p:cNvPr id="8" name="TextBox 8"/>
          <p:cNvSpPr txBox="1"/>
          <p:nvPr/>
        </p:nvSpPr>
        <p:spPr>
          <a:xfrm>
            <a:off x="2236830" y="7764993"/>
            <a:ext cx="5851400" cy="1104900"/>
          </a:xfrm>
          <a:prstGeom prst="rect">
            <a:avLst/>
          </a:prstGeom>
        </p:spPr>
        <p:txBody>
          <a:bodyPr lIns="0" tIns="0" rIns="0" bIns="0" rtlCol="0" anchor="t">
            <a:spAutoFit/>
          </a:bodyPr>
          <a:lstStyle/>
          <a:p>
            <a:pPr algn="l">
              <a:lnSpc>
                <a:spcPts val="4200"/>
              </a:lnSpc>
            </a:pPr>
            <a:r>
              <a:rPr lang="en-US" sz="3500" b="1">
                <a:solidFill>
                  <a:srgbClr val="001A3B"/>
                </a:solidFill>
                <a:latin typeface="Poppins Bold"/>
                <a:ea typeface="Poppins Bold"/>
                <a:cs typeface="Poppins Bold"/>
                <a:sym typeface="Poppins Bold"/>
              </a:rPr>
              <a:t>BUSINESS VALUE</a:t>
            </a:r>
          </a:p>
          <a:p>
            <a:pPr algn="l">
              <a:lnSpc>
                <a:spcPts val="4200"/>
              </a:lnSpc>
            </a:pPr>
            <a:endParaRPr lang="en-US" sz="3500" b="1">
              <a:solidFill>
                <a:srgbClr val="001A3B"/>
              </a:solidFill>
              <a:latin typeface="Poppins Bold"/>
              <a:ea typeface="Poppins Bold"/>
              <a:cs typeface="Poppins Bold"/>
              <a:sym typeface="Poppins Bold"/>
            </a:endParaRPr>
          </a:p>
        </p:txBody>
      </p:sp>
      <p:sp>
        <p:nvSpPr>
          <p:cNvPr id="9" name="Freeform 9"/>
          <p:cNvSpPr/>
          <p:nvPr/>
        </p:nvSpPr>
        <p:spPr>
          <a:xfrm>
            <a:off x="11766106" y="361326"/>
            <a:ext cx="6241338" cy="3783699"/>
          </a:xfrm>
          <a:custGeom>
            <a:avLst/>
            <a:gdLst/>
            <a:ahLst/>
            <a:cxnLst/>
            <a:rect l="l" t="t" r="r" b="b"/>
            <a:pathLst>
              <a:path w="6241338" h="3783699">
                <a:moveTo>
                  <a:pt x="0" y="0"/>
                </a:moveTo>
                <a:lnTo>
                  <a:pt x="6241338" y="0"/>
                </a:lnTo>
                <a:lnTo>
                  <a:pt x="6241338" y="3783699"/>
                </a:lnTo>
                <a:lnTo>
                  <a:pt x="0" y="3783699"/>
                </a:lnTo>
                <a:lnTo>
                  <a:pt x="0" y="0"/>
                </a:lnTo>
                <a:close/>
              </a:path>
            </a:pathLst>
          </a:custGeom>
          <a:blipFill>
            <a:blip r:embed="rId2"/>
            <a:stretch>
              <a:fillRect t="-50953" r="-56385" b="-10273"/>
            </a:stretch>
          </a:blipFill>
        </p:spPr>
      </p:sp>
      <p:sp>
        <p:nvSpPr>
          <p:cNvPr id="10" name="TextBox 10"/>
          <p:cNvSpPr txBox="1"/>
          <p:nvPr/>
        </p:nvSpPr>
        <p:spPr>
          <a:xfrm>
            <a:off x="1073568" y="2792475"/>
            <a:ext cx="8177924" cy="1104900"/>
          </a:xfrm>
          <a:prstGeom prst="rect">
            <a:avLst/>
          </a:prstGeom>
        </p:spPr>
        <p:txBody>
          <a:bodyPr lIns="0" tIns="0" rIns="0" bIns="0" rtlCol="0" anchor="t">
            <a:spAutoFit/>
          </a:bodyPr>
          <a:lstStyle/>
          <a:p>
            <a:pPr algn="l">
              <a:lnSpc>
                <a:spcPts val="4200"/>
              </a:lnSpc>
            </a:pPr>
            <a:r>
              <a:rPr lang="en-US" sz="3500" b="1">
                <a:solidFill>
                  <a:srgbClr val="00BF63"/>
                </a:solidFill>
                <a:latin typeface="Poppins Bold"/>
                <a:ea typeface="Poppins Bold"/>
                <a:cs typeface="Poppins Bold"/>
                <a:sym typeface="Poppins Bold"/>
              </a:rPr>
              <a:t>WHAT PROBLEM DOES 2W1C SOLVE?</a:t>
            </a:r>
          </a:p>
          <a:p>
            <a:pPr algn="l">
              <a:lnSpc>
                <a:spcPts val="4200"/>
              </a:lnSpc>
            </a:pPr>
            <a:endParaRPr lang="en-US" sz="3500" b="1">
              <a:solidFill>
                <a:srgbClr val="00BF63"/>
              </a:solidFill>
              <a:latin typeface="Poppins Bold"/>
              <a:ea typeface="Poppins Bold"/>
              <a:cs typeface="Poppins Bold"/>
              <a:sym typeface="Poppins Bold"/>
            </a:endParaRPr>
          </a:p>
        </p:txBody>
      </p:sp>
      <p:sp>
        <p:nvSpPr>
          <p:cNvPr id="12" name="Text 8">
            <a:extLst>
              <a:ext uri="{FF2B5EF4-FFF2-40B4-BE49-F238E27FC236}">
                <a16:creationId xmlns:a16="http://schemas.microsoft.com/office/drawing/2014/main" id="{DB730739-95F0-9E3F-B99C-1D7E6C44B72C}"/>
              </a:ext>
            </a:extLst>
          </p:cNvPr>
          <p:cNvSpPr/>
          <p:nvPr/>
        </p:nvSpPr>
        <p:spPr>
          <a:xfrm>
            <a:off x="16952976" y="9779508"/>
            <a:ext cx="713232" cy="329184"/>
          </a:xfrm>
          <a:prstGeom prst="rect">
            <a:avLst/>
          </a:prstGeom>
          <a:noFill/>
          <a:ln/>
        </p:spPr>
        <p:txBody>
          <a:bodyPr wrap="square" lIns="0" tIns="0" rIns="0" bIns="0" rtlCol="0" anchor="ctr"/>
          <a:lstStyle/>
          <a:p>
            <a:pPr algn="r"/>
            <a:r>
              <a:rPr lang="en-US" sz="1500" b="1" dirty="0">
                <a:solidFill>
                  <a:srgbClr val="5C6874"/>
                </a:solidFill>
              </a:rPr>
              <a:t>1</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744917" y="1675621"/>
            <a:ext cx="2822655" cy="2822655"/>
            <a:chOff x="0" y="0"/>
            <a:chExt cx="812800" cy="812800"/>
          </a:xfrm>
        </p:grpSpPr>
        <p:sp>
          <p:nvSpPr>
            <p:cNvPr id="3" name="Freeform 3"/>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BCBFFF"/>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5" name="Group 5"/>
          <p:cNvGrpSpPr/>
          <p:nvPr/>
        </p:nvGrpSpPr>
        <p:grpSpPr>
          <a:xfrm rot="2700000">
            <a:off x="5736754" y="1675621"/>
            <a:ext cx="2822655" cy="2822655"/>
            <a:chOff x="0" y="0"/>
            <a:chExt cx="812800" cy="812800"/>
          </a:xfrm>
        </p:grpSpPr>
        <p:sp>
          <p:nvSpPr>
            <p:cNvPr id="6" name="Freeform 6"/>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ADE466"/>
            </a:solidFill>
          </p:spPr>
        </p:sp>
        <p:sp>
          <p:nvSpPr>
            <p:cNvPr id="7" name="TextBox 7"/>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8" name="Group 8"/>
          <p:cNvGrpSpPr/>
          <p:nvPr/>
        </p:nvGrpSpPr>
        <p:grpSpPr>
          <a:xfrm rot="2700000">
            <a:off x="3740835" y="4184392"/>
            <a:ext cx="2822655" cy="2822655"/>
            <a:chOff x="0" y="0"/>
            <a:chExt cx="812800" cy="812800"/>
          </a:xfrm>
        </p:grpSpPr>
        <p:sp>
          <p:nvSpPr>
            <p:cNvPr id="9" name="Freeform 9"/>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89E2E8"/>
            </a:solidFill>
          </p:spPr>
        </p:sp>
        <p:sp>
          <p:nvSpPr>
            <p:cNvPr id="10" name="TextBox 10"/>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11" name="Group 11"/>
          <p:cNvGrpSpPr/>
          <p:nvPr/>
        </p:nvGrpSpPr>
        <p:grpSpPr>
          <a:xfrm rot="2700000">
            <a:off x="7732672" y="4184392"/>
            <a:ext cx="2822655" cy="2822655"/>
            <a:chOff x="0" y="0"/>
            <a:chExt cx="812800" cy="812800"/>
          </a:xfrm>
        </p:grpSpPr>
        <p:sp>
          <p:nvSpPr>
            <p:cNvPr id="12" name="Freeform 12"/>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E8E252"/>
            </a:solidFill>
          </p:spPr>
        </p:sp>
        <p:sp>
          <p:nvSpPr>
            <p:cNvPr id="13" name="TextBox 13"/>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14" name="Group 14"/>
          <p:cNvGrpSpPr/>
          <p:nvPr/>
        </p:nvGrpSpPr>
        <p:grpSpPr>
          <a:xfrm rot="2700000">
            <a:off x="9728591" y="1675621"/>
            <a:ext cx="2822655" cy="2822655"/>
            <a:chOff x="0" y="0"/>
            <a:chExt cx="812800" cy="812800"/>
          </a:xfrm>
        </p:grpSpPr>
        <p:sp>
          <p:nvSpPr>
            <p:cNvPr id="15" name="Freeform 15"/>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FDDB3E"/>
            </a:solidFill>
          </p:spPr>
        </p:sp>
        <p:sp>
          <p:nvSpPr>
            <p:cNvPr id="16" name="TextBox 16"/>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17" name="Group 17"/>
          <p:cNvGrpSpPr/>
          <p:nvPr/>
        </p:nvGrpSpPr>
        <p:grpSpPr>
          <a:xfrm rot="2700000">
            <a:off x="13720428" y="1675621"/>
            <a:ext cx="2822655" cy="2822655"/>
            <a:chOff x="0" y="0"/>
            <a:chExt cx="812800" cy="812800"/>
          </a:xfrm>
        </p:grpSpPr>
        <p:sp>
          <p:nvSpPr>
            <p:cNvPr id="18" name="Freeform 18"/>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FFBBE6"/>
            </a:solidFill>
          </p:spPr>
        </p:sp>
        <p:sp>
          <p:nvSpPr>
            <p:cNvPr id="19" name="TextBox 19"/>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0" name="Group 20"/>
          <p:cNvGrpSpPr/>
          <p:nvPr/>
        </p:nvGrpSpPr>
        <p:grpSpPr>
          <a:xfrm rot="2700000">
            <a:off x="11724510" y="4184392"/>
            <a:ext cx="2822655" cy="2822655"/>
            <a:chOff x="0" y="0"/>
            <a:chExt cx="812800" cy="812800"/>
          </a:xfrm>
        </p:grpSpPr>
        <p:sp>
          <p:nvSpPr>
            <p:cNvPr id="21" name="Freeform 21"/>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FFA678"/>
            </a:solidFill>
          </p:spPr>
        </p:sp>
        <p:sp>
          <p:nvSpPr>
            <p:cNvPr id="22" name="TextBox 22"/>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3" name="Group 23"/>
          <p:cNvGrpSpPr/>
          <p:nvPr/>
        </p:nvGrpSpPr>
        <p:grpSpPr>
          <a:xfrm>
            <a:off x="14704962" y="858489"/>
            <a:ext cx="853587" cy="85358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25" name="TextBox 25"/>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4</a:t>
              </a:r>
            </a:p>
          </p:txBody>
        </p:sp>
      </p:grpSp>
      <p:grpSp>
        <p:nvGrpSpPr>
          <p:cNvPr id="26" name="Group 26"/>
          <p:cNvGrpSpPr/>
          <p:nvPr/>
        </p:nvGrpSpPr>
        <p:grpSpPr>
          <a:xfrm>
            <a:off x="10713125" y="858489"/>
            <a:ext cx="853587" cy="853587"/>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28" name="TextBox 28"/>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3</a:t>
              </a:r>
            </a:p>
          </p:txBody>
        </p:sp>
      </p:grpSp>
      <p:grpSp>
        <p:nvGrpSpPr>
          <p:cNvPr id="29" name="Group 29"/>
          <p:cNvGrpSpPr/>
          <p:nvPr/>
        </p:nvGrpSpPr>
        <p:grpSpPr>
          <a:xfrm>
            <a:off x="6718788" y="858489"/>
            <a:ext cx="853587" cy="85358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31" name="TextBox 31"/>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2</a:t>
              </a:r>
            </a:p>
          </p:txBody>
        </p:sp>
      </p:grpSp>
      <p:grpSp>
        <p:nvGrpSpPr>
          <p:cNvPr id="32" name="Group 32"/>
          <p:cNvGrpSpPr/>
          <p:nvPr/>
        </p:nvGrpSpPr>
        <p:grpSpPr>
          <a:xfrm>
            <a:off x="12709044" y="6897681"/>
            <a:ext cx="853587" cy="853587"/>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34" name="TextBox 34"/>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7</a:t>
              </a:r>
            </a:p>
          </p:txBody>
        </p:sp>
      </p:grpSp>
      <p:grpSp>
        <p:nvGrpSpPr>
          <p:cNvPr id="35" name="Group 35"/>
          <p:cNvGrpSpPr/>
          <p:nvPr/>
        </p:nvGrpSpPr>
        <p:grpSpPr>
          <a:xfrm>
            <a:off x="8717207" y="6897681"/>
            <a:ext cx="853587" cy="85358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37" name="TextBox 37"/>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6</a:t>
              </a:r>
            </a:p>
          </p:txBody>
        </p:sp>
      </p:grpSp>
      <p:grpSp>
        <p:nvGrpSpPr>
          <p:cNvPr id="38" name="Group 38"/>
          <p:cNvGrpSpPr/>
          <p:nvPr/>
        </p:nvGrpSpPr>
        <p:grpSpPr>
          <a:xfrm>
            <a:off x="2724451" y="858489"/>
            <a:ext cx="853587" cy="853587"/>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40" name="TextBox 40"/>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1</a:t>
              </a:r>
            </a:p>
          </p:txBody>
        </p:sp>
      </p:grpSp>
      <p:grpSp>
        <p:nvGrpSpPr>
          <p:cNvPr id="41" name="Group 41"/>
          <p:cNvGrpSpPr/>
          <p:nvPr/>
        </p:nvGrpSpPr>
        <p:grpSpPr>
          <a:xfrm>
            <a:off x="4725369" y="6897681"/>
            <a:ext cx="853587" cy="853587"/>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43" name="TextBox 43"/>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5</a:t>
              </a:r>
            </a:p>
          </p:txBody>
        </p:sp>
      </p:grpSp>
      <p:sp>
        <p:nvSpPr>
          <p:cNvPr id="44" name="Freeform 44"/>
          <p:cNvSpPr/>
          <p:nvPr/>
        </p:nvSpPr>
        <p:spPr>
          <a:xfrm>
            <a:off x="10867775" y="4049850"/>
            <a:ext cx="547987" cy="547987"/>
          </a:xfrm>
          <a:custGeom>
            <a:avLst/>
            <a:gdLst/>
            <a:ahLst/>
            <a:cxnLst/>
            <a:rect l="l" t="t" r="r" b="b"/>
            <a:pathLst>
              <a:path w="547987" h="547987">
                <a:moveTo>
                  <a:pt x="0" y="0"/>
                </a:moveTo>
                <a:lnTo>
                  <a:pt x="547986" y="0"/>
                </a:lnTo>
                <a:lnTo>
                  <a:pt x="547986" y="547986"/>
                </a:lnTo>
                <a:lnTo>
                  <a:pt x="0" y="5479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5" name="Freeform 45"/>
          <p:cNvSpPr/>
          <p:nvPr/>
        </p:nvSpPr>
        <p:spPr>
          <a:xfrm>
            <a:off x="12826735" y="4039469"/>
            <a:ext cx="618204" cy="568747"/>
          </a:xfrm>
          <a:custGeom>
            <a:avLst/>
            <a:gdLst/>
            <a:ahLst/>
            <a:cxnLst/>
            <a:rect l="l" t="t" r="r" b="b"/>
            <a:pathLst>
              <a:path w="618204" h="568747">
                <a:moveTo>
                  <a:pt x="0" y="0"/>
                </a:moveTo>
                <a:lnTo>
                  <a:pt x="618204" y="0"/>
                </a:lnTo>
                <a:lnTo>
                  <a:pt x="618204" y="568748"/>
                </a:lnTo>
                <a:lnTo>
                  <a:pt x="0" y="56874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8922139" y="4024031"/>
            <a:ext cx="443721" cy="599623"/>
          </a:xfrm>
          <a:custGeom>
            <a:avLst/>
            <a:gdLst/>
            <a:ahLst/>
            <a:cxnLst/>
            <a:rect l="l" t="t" r="r" b="b"/>
            <a:pathLst>
              <a:path w="443721" h="599623">
                <a:moveTo>
                  <a:pt x="0" y="0"/>
                </a:moveTo>
                <a:lnTo>
                  <a:pt x="443722" y="0"/>
                </a:lnTo>
                <a:lnTo>
                  <a:pt x="443722" y="599624"/>
                </a:lnTo>
                <a:lnTo>
                  <a:pt x="0" y="59962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7" name="Freeform 47"/>
          <p:cNvSpPr/>
          <p:nvPr/>
        </p:nvSpPr>
        <p:spPr>
          <a:xfrm>
            <a:off x="14874088" y="3998804"/>
            <a:ext cx="515335" cy="650079"/>
          </a:xfrm>
          <a:custGeom>
            <a:avLst/>
            <a:gdLst/>
            <a:ahLst/>
            <a:cxnLst/>
            <a:rect l="l" t="t" r="r" b="b"/>
            <a:pathLst>
              <a:path w="515335" h="650079">
                <a:moveTo>
                  <a:pt x="0" y="0"/>
                </a:moveTo>
                <a:lnTo>
                  <a:pt x="515335" y="0"/>
                </a:lnTo>
                <a:lnTo>
                  <a:pt x="515335" y="650078"/>
                </a:lnTo>
                <a:lnTo>
                  <a:pt x="0" y="6500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a:off x="4862560" y="4064518"/>
            <a:ext cx="585671" cy="585671"/>
          </a:xfrm>
          <a:custGeom>
            <a:avLst/>
            <a:gdLst/>
            <a:ahLst/>
            <a:cxnLst/>
            <a:rect l="l" t="t" r="r" b="b"/>
            <a:pathLst>
              <a:path w="585671" h="585671">
                <a:moveTo>
                  <a:pt x="0" y="0"/>
                </a:moveTo>
                <a:lnTo>
                  <a:pt x="585671" y="0"/>
                </a:lnTo>
                <a:lnTo>
                  <a:pt x="585671" y="585670"/>
                </a:lnTo>
                <a:lnTo>
                  <a:pt x="0" y="5856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9" name="TextBox 49"/>
          <p:cNvSpPr txBox="1"/>
          <p:nvPr/>
        </p:nvSpPr>
        <p:spPr>
          <a:xfrm>
            <a:off x="1880527" y="2394563"/>
            <a:ext cx="2509636" cy="1534942"/>
          </a:xfrm>
          <a:prstGeom prst="rect">
            <a:avLst/>
          </a:prstGeom>
        </p:spPr>
        <p:txBody>
          <a:bodyPr lIns="0" tIns="0" rIns="0" bIns="0" rtlCol="0" anchor="t">
            <a:spAutoFit/>
          </a:bodyPr>
          <a:lstStyle/>
          <a:p>
            <a:pPr algn="ctr">
              <a:lnSpc>
                <a:spcPts val="2447"/>
              </a:lnSpc>
            </a:pPr>
            <a:r>
              <a:rPr lang="en-US" sz="1911" b="1">
                <a:solidFill>
                  <a:srgbClr val="000000"/>
                </a:solidFill>
                <a:latin typeface="Montserrat Bold"/>
                <a:ea typeface="Montserrat Bold"/>
                <a:cs typeface="Montserrat Bold"/>
                <a:sym typeface="Montserrat Bold"/>
              </a:rPr>
              <a:t>Unfallatlas</a:t>
            </a:r>
          </a:p>
          <a:p>
            <a:pPr marL="0" lvl="0" indent="0" algn="ctr">
              <a:lnSpc>
                <a:spcPts val="2447"/>
              </a:lnSpc>
            </a:pPr>
            <a:r>
              <a:rPr lang="en-US" sz="1911" b="1">
                <a:solidFill>
                  <a:srgbClr val="000000"/>
                </a:solidFill>
                <a:latin typeface="Montserrat Bold"/>
                <a:ea typeface="Montserrat Bold"/>
                <a:cs typeface="Montserrat Bold"/>
                <a:sym typeface="Montserrat Bold"/>
              </a:rPr>
              <a:t>Berlin bicycle</a:t>
            </a:r>
          </a:p>
          <a:p>
            <a:pPr marL="0" lvl="0" indent="0" algn="ctr">
              <a:lnSpc>
                <a:spcPts val="2447"/>
              </a:lnSpc>
            </a:pPr>
            <a:r>
              <a:rPr lang="en-US" sz="1911" b="1">
                <a:solidFill>
                  <a:srgbClr val="000000"/>
                </a:solidFill>
                <a:latin typeface="Montserrat Bold"/>
                <a:ea typeface="Montserrat Bold"/>
                <a:cs typeface="Montserrat Bold"/>
                <a:sym typeface="Montserrat Bold"/>
              </a:rPr>
              <a:t>crashes</a:t>
            </a:r>
          </a:p>
          <a:p>
            <a:pPr marL="0" lvl="0" indent="0" algn="ctr">
              <a:lnSpc>
                <a:spcPts val="2447"/>
              </a:lnSpc>
            </a:pPr>
            <a:r>
              <a:rPr lang="en-US" sz="1911" b="1">
                <a:solidFill>
                  <a:srgbClr val="000000"/>
                </a:solidFill>
                <a:latin typeface="Montserrat Bold"/>
                <a:ea typeface="Montserrat Bold"/>
                <a:cs typeface="Montserrat Bold"/>
                <a:sym typeface="Montserrat Bold"/>
              </a:rPr>
              <a:t>2018–2025</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50" name="TextBox 50"/>
          <p:cNvSpPr txBox="1"/>
          <p:nvPr/>
        </p:nvSpPr>
        <p:spPr>
          <a:xfrm>
            <a:off x="11991835" y="5008267"/>
            <a:ext cx="2509636" cy="1227879"/>
          </a:xfrm>
          <a:prstGeom prst="rect">
            <a:avLst/>
          </a:prstGeom>
        </p:spPr>
        <p:txBody>
          <a:bodyPr lIns="0" tIns="0" rIns="0" bIns="0" rtlCol="0" anchor="t">
            <a:spAutoFit/>
          </a:bodyPr>
          <a:lstStyle/>
          <a:p>
            <a:pPr marL="0" lvl="0" indent="0" algn="ctr">
              <a:lnSpc>
                <a:spcPts val="2447"/>
              </a:lnSpc>
            </a:pPr>
            <a:r>
              <a:rPr lang="en-US" sz="1911" b="1">
                <a:solidFill>
                  <a:srgbClr val="000000"/>
                </a:solidFill>
                <a:latin typeface="Montserrat Bold"/>
                <a:ea typeface="Montserrat Bold"/>
                <a:cs typeface="Montserrat Bold"/>
                <a:sym typeface="Montserrat Bold"/>
              </a:rPr>
              <a:t>Severity evidence</a:t>
            </a:r>
          </a:p>
          <a:p>
            <a:pPr marL="0" lvl="0" indent="0" algn="ctr">
              <a:lnSpc>
                <a:spcPts val="2447"/>
              </a:lnSpc>
            </a:pPr>
            <a:r>
              <a:rPr lang="en-US" sz="1911" b="1">
                <a:solidFill>
                  <a:srgbClr val="000000"/>
                </a:solidFill>
                <a:latin typeface="Montserrat Bold"/>
                <a:ea typeface="Montserrat Bold"/>
                <a:cs typeface="Montserrat Bold"/>
                <a:sym typeface="Montserrat Bold"/>
              </a:rPr>
              <a:t>KSI conditional on a crash</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51" name="TextBox 51"/>
          <p:cNvSpPr txBox="1"/>
          <p:nvPr/>
        </p:nvSpPr>
        <p:spPr>
          <a:xfrm>
            <a:off x="9906000" y="2371922"/>
            <a:ext cx="2509636" cy="1227879"/>
          </a:xfrm>
          <a:prstGeom prst="rect">
            <a:avLst/>
          </a:prstGeom>
        </p:spPr>
        <p:txBody>
          <a:bodyPr lIns="0" tIns="0" rIns="0" bIns="0" rtlCol="0" anchor="t">
            <a:spAutoFit/>
          </a:bodyPr>
          <a:lstStyle/>
          <a:p>
            <a:pPr algn="ctr">
              <a:lnSpc>
                <a:spcPts val="2447"/>
              </a:lnSpc>
            </a:pPr>
            <a:r>
              <a:rPr lang="en-US" sz="1911" b="1">
                <a:solidFill>
                  <a:srgbClr val="000000"/>
                </a:solidFill>
                <a:latin typeface="Montserrat Bold"/>
                <a:ea typeface="Montserrat Bold"/>
                <a:cs typeface="Montserrat Bold"/>
                <a:sym typeface="Montserrat Bold"/>
              </a:rPr>
              <a:t>GIS risk</a:t>
            </a:r>
          </a:p>
          <a:p>
            <a:pPr algn="ctr">
              <a:lnSpc>
                <a:spcPts val="2447"/>
              </a:lnSpc>
            </a:pPr>
            <a:r>
              <a:rPr lang="en-US" sz="1911" b="1">
                <a:solidFill>
                  <a:srgbClr val="000000"/>
                </a:solidFill>
                <a:latin typeface="Montserrat Bold"/>
                <a:ea typeface="Montserrat Bold"/>
                <a:cs typeface="Montserrat Bold"/>
                <a:sym typeface="Montserrat Bold"/>
              </a:rPr>
              <a:t>Snap crashes to</a:t>
            </a:r>
          </a:p>
          <a:p>
            <a:pPr marL="0" lvl="0" indent="0" algn="ctr">
              <a:lnSpc>
                <a:spcPts val="2447"/>
              </a:lnSpc>
            </a:pPr>
            <a:r>
              <a:rPr lang="en-US" sz="1911" b="1">
                <a:solidFill>
                  <a:srgbClr val="000000"/>
                </a:solidFill>
                <a:latin typeface="Montserrat Bold"/>
                <a:ea typeface="Montserrat Bold"/>
                <a:cs typeface="Montserrat Bold"/>
                <a:sym typeface="Montserrat Bold"/>
              </a:rPr>
              <a:t>street segments</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52" name="TextBox 52"/>
          <p:cNvSpPr txBox="1"/>
          <p:nvPr/>
        </p:nvSpPr>
        <p:spPr>
          <a:xfrm>
            <a:off x="7889182" y="4842730"/>
            <a:ext cx="2509636" cy="1534942"/>
          </a:xfrm>
          <a:prstGeom prst="rect">
            <a:avLst/>
          </a:prstGeom>
        </p:spPr>
        <p:txBody>
          <a:bodyPr lIns="0" tIns="0" rIns="0" bIns="0" rtlCol="0" anchor="t">
            <a:spAutoFit/>
          </a:bodyPr>
          <a:lstStyle/>
          <a:p>
            <a:pPr algn="ctr">
              <a:lnSpc>
                <a:spcPts val="2447"/>
              </a:lnSpc>
            </a:pPr>
            <a:r>
              <a:rPr lang="en-US" sz="1911" b="1">
                <a:solidFill>
                  <a:srgbClr val="000000"/>
                </a:solidFill>
                <a:latin typeface="Montserrat Bold"/>
                <a:ea typeface="Montserrat Bold"/>
                <a:cs typeface="Montserrat Bold"/>
                <a:sym typeface="Montserrat Bold"/>
              </a:rPr>
              <a:t>ML road-risk route</a:t>
            </a:r>
          </a:p>
          <a:p>
            <a:pPr marL="0" lvl="0" indent="0" algn="ctr">
              <a:lnSpc>
                <a:spcPts val="2447"/>
              </a:lnSpc>
            </a:pPr>
            <a:r>
              <a:rPr lang="en-US" sz="1911" b="1">
                <a:solidFill>
                  <a:srgbClr val="000000"/>
                </a:solidFill>
                <a:latin typeface="Montserrat Bold"/>
                <a:ea typeface="Montserrat Bold"/>
                <a:cs typeface="Montserrat Bold"/>
                <a:sym typeface="Montserrat Bold"/>
              </a:rPr>
              <a:t>Road-only, no accident-</a:t>
            </a:r>
          </a:p>
          <a:p>
            <a:pPr marL="0" lvl="0" indent="0" algn="ctr">
              <a:lnSpc>
                <a:spcPts val="2447"/>
              </a:lnSpc>
            </a:pPr>
            <a:r>
              <a:rPr lang="en-US" sz="1911" b="1">
                <a:solidFill>
                  <a:srgbClr val="000000"/>
                </a:solidFill>
                <a:latin typeface="Montserrat Bold"/>
                <a:ea typeface="Montserrat Bold"/>
                <a:cs typeface="Montserrat Bold"/>
                <a:sym typeface="Montserrat Bold"/>
              </a:rPr>
              <a:t>derived leakage</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53" name="TextBox 53"/>
          <p:cNvSpPr txBox="1"/>
          <p:nvPr/>
        </p:nvSpPr>
        <p:spPr>
          <a:xfrm>
            <a:off x="5893264" y="2559728"/>
            <a:ext cx="2509636" cy="1227879"/>
          </a:xfrm>
          <a:prstGeom prst="rect">
            <a:avLst/>
          </a:prstGeom>
        </p:spPr>
        <p:txBody>
          <a:bodyPr lIns="0" tIns="0" rIns="0" bIns="0" rtlCol="0" anchor="t">
            <a:spAutoFit/>
          </a:bodyPr>
          <a:lstStyle/>
          <a:p>
            <a:pPr marL="0" lvl="0" indent="0" algn="ctr">
              <a:lnSpc>
                <a:spcPts val="2447"/>
              </a:lnSpc>
            </a:pPr>
            <a:r>
              <a:rPr lang="en-US" sz="1911" b="1">
                <a:solidFill>
                  <a:srgbClr val="000000"/>
                </a:solidFill>
                <a:latin typeface="Montserrat Bold"/>
                <a:ea typeface="Montserrat Bold"/>
                <a:cs typeface="Montserrat Bold"/>
                <a:sym typeface="Montserrat Bold"/>
              </a:rPr>
              <a:t>OpenStreetMap</a:t>
            </a:r>
          </a:p>
          <a:p>
            <a:pPr marL="0" lvl="0" indent="0" algn="ctr">
              <a:lnSpc>
                <a:spcPts val="2447"/>
              </a:lnSpc>
            </a:pPr>
            <a:r>
              <a:rPr lang="en-US" sz="1911" b="1">
                <a:solidFill>
                  <a:srgbClr val="000000"/>
                </a:solidFill>
                <a:latin typeface="Montserrat Bold"/>
                <a:ea typeface="Montserrat Bold"/>
                <a:cs typeface="Montserrat Bold"/>
                <a:sym typeface="Montserrat Bold"/>
              </a:rPr>
              <a:t>Bike graph + road</a:t>
            </a:r>
          </a:p>
          <a:p>
            <a:pPr marL="0" lvl="0" indent="0" algn="ctr">
              <a:lnSpc>
                <a:spcPts val="2447"/>
              </a:lnSpc>
            </a:pPr>
            <a:r>
              <a:rPr lang="en-US" sz="1911" b="1">
                <a:solidFill>
                  <a:srgbClr val="000000"/>
                </a:solidFill>
                <a:latin typeface="Montserrat Bold"/>
                <a:ea typeface="Montserrat Bold"/>
                <a:cs typeface="Montserrat Bold"/>
                <a:sym typeface="Montserrat Bold"/>
              </a:rPr>
              <a:t>attributes</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54" name="TextBox 54"/>
          <p:cNvSpPr txBox="1"/>
          <p:nvPr/>
        </p:nvSpPr>
        <p:spPr>
          <a:xfrm>
            <a:off x="3900578" y="4907363"/>
            <a:ext cx="2509636" cy="1534942"/>
          </a:xfrm>
          <a:prstGeom prst="rect">
            <a:avLst/>
          </a:prstGeom>
        </p:spPr>
        <p:txBody>
          <a:bodyPr lIns="0" tIns="0" rIns="0" bIns="0" rtlCol="0" anchor="t">
            <a:spAutoFit/>
          </a:bodyPr>
          <a:lstStyle/>
          <a:p>
            <a:pPr marL="0" lvl="0" indent="0" algn="ctr">
              <a:lnSpc>
                <a:spcPts val="2447"/>
              </a:lnSpc>
            </a:pPr>
            <a:r>
              <a:rPr lang="en-US" sz="1911" b="1" dirty="0">
                <a:solidFill>
                  <a:srgbClr val="000000"/>
                </a:solidFill>
                <a:latin typeface="Montserrat Bold"/>
                <a:ea typeface="Montserrat Bold"/>
                <a:cs typeface="Montserrat Bold"/>
                <a:sym typeface="Montserrat Bold"/>
              </a:rPr>
              <a:t>Historical GIS route</a:t>
            </a:r>
          </a:p>
          <a:p>
            <a:pPr marL="0" lvl="0" indent="0" algn="ctr">
              <a:lnSpc>
                <a:spcPts val="2447"/>
              </a:lnSpc>
            </a:pPr>
            <a:r>
              <a:rPr lang="en-US" sz="1911" b="1" dirty="0">
                <a:solidFill>
                  <a:srgbClr val="000000"/>
                </a:solidFill>
                <a:latin typeface="Montserrat Bold"/>
                <a:ea typeface="Montserrat Bold"/>
                <a:cs typeface="Montserrat Bold"/>
                <a:sym typeface="Montserrat Bold"/>
              </a:rPr>
              <a:t>Severity-weighted past</a:t>
            </a:r>
          </a:p>
          <a:p>
            <a:pPr marL="0" lvl="0" indent="0" algn="ctr">
              <a:lnSpc>
                <a:spcPts val="2447"/>
              </a:lnSpc>
            </a:pPr>
            <a:r>
              <a:rPr lang="en-US" sz="1911" b="1" dirty="0">
                <a:solidFill>
                  <a:srgbClr val="000000"/>
                </a:solidFill>
                <a:latin typeface="Montserrat Bold"/>
                <a:ea typeface="Montserrat Bold"/>
                <a:cs typeface="Montserrat Bold"/>
                <a:sym typeface="Montserrat Bold"/>
              </a:rPr>
              <a:t>risk + junction risk</a:t>
            </a:r>
          </a:p>
          <a:p>
            <a:pPr marL="0" lvl="0" indent="0" algn="ctr">
              <a:lnSpc>
                <a:spcPts val="2447"/>
              </a:lnSpc>
            </a:pPr>
            <a:endParaRPr lang="en-US" sz="1911" b="1" dirty="0">
              <a:solidFill>
                <a:srgbClr val="000000"/>
              </a:solidFill>
              <a:latin typeface="Montserrat Bold"/>
              <a:ea typeface="Montserrat Bold"/>
              <a:cs typeface="Montserrat Bold"/>
              <a:sym typeface="Montserrat Bold"/>
            </a:endParaRPr>
          </a:p>
        </p:txBody>
      </p:sp>
      <p:sp>
        <p:nvSpPr>
          <p:cNvPr id="55" name="TextBox 55"/>
          <p:cNvSpPr txBox="1"/>
          <p:nvPr/>
        </p:nvSpPr>
        <p:spPr>
          <a:xfrm>
            <a:off x="13897837" y="2394563"/>
            <a:ext cx="2509636" cy="1227879"/>
          </a:xfrm>
          <a:prstGeom prst="rect">
            <a:avLst/>
          </a:prstGeom>
        </p:spPr>
        <p:txBody>
          <a:bodyPr lIns="0" tIns="0" rIns="0" bIns="0" rtlCol="0" anchor="t">
            <a:spAutoFit/>
          </a:bodyPr>
          <a:lstStyle/>
          <a:p>
            <a:pPr algn="ctr">
              <a:lnSpc>
                <a:spcPts val="2447"/>
              </a:lnSpc>
            </a:pPr>
            <a:r>
              <a:rPr lang="en-US" sz="1911" b="1">
                <a:solidFill>
                  <a:srgbClr val="000000"/>
                </a:solidFill>
                <a:latin typeface="Montserrat Bold"/>
                <a:ea typeface="Montserrat Bold"/>
                <a:cs typeface="Montserrat Bold"/>
                <a:sym typeface="Montserrat Bold"/>
              </a:rPr>
              <a:t>ML model</a:t>
            </a:r>
          </a:p>
          <a:p>
            <a:pPr marL="0" lvl="0" indent="0" algn="ctr">
              <a:lnSpc>
                <a:spcPts val="2447"/>
              </a:lnSpc>
              <a:spcBef>
                <a:spcPct val="0"/>
              </a:spcBef>
            </a:pPr>
            <a:r>
              <a:rPr lang="en-US" sz="1911" b="1">
                <a:solidFill>
                  <a:srgbClr val="000000"/>
                </a:solidFill>
                <a:latin typeface="Montserrat Bold"/>
                <a:ea typeface="Montserrat Bold"/>
                <a:cs typeface="Montserrat Bold"/>
                <a:sym typeface="Montserrat Bold"/>
              </a:rPr>
              <a:t>Leakage-safe</a:t>
            </a:r>
          </a:p>
          <a:p>
            <a:pPr marL="0" lvl="0" indent="0" algn="ctr">
              <a:lnSpc>
                <a:spcPts val="2447"/>
              </a:lnSpc>
              <a:spcBef>
                <a:spcPct val="0"/>
              </a:spcBef>
            </a:pPr>
            <a:r>
              <a:rPr lang="en-US" sz="1911" b="1">
                <a:solidFill>
                  <a:srgbClr val="000000"/>
                </a:solidFill>
                <a:latin typeface="Montserrat Bold"/>
                <a:ea typeface="Montserrat Bold"/>
                <a:cs typeface="Montserrat Bold"/>
                <a:sym typeface="Montserrat Bold"/>
              </a:rPr>
              <a:t>road-risk model</a:t>
            </a:r>
          </a:p>
          <a:p>
            <a:pPr marL="0" lvl="0" indent="0" algn="ctr">
              <a:lnSpc>
                <a:spcPts val="2447"/>
              </a:lnSpc>
              <a:spcBef>
                <a:spcPct val="0"/>
              </a:spcBef>
            </a:pPr>
            <a:endParaRPr lang="en-US" sz="1911" b="1">
              <a:solidFill>
                <a:srgbClr val="000000"/>
              </a:solidFill>
              <a:latin typeface="Montserrat Bold"/>
              <a:ea typeface="Montserrat Bold"/>
              <a:cs typeface="Montserrat Bold"/>
              <a:sym typeface="Montserrat Bold"/>
            </a:endParaRPr>
          </a:p>
        </p:txBody>
      </p:sp>
      <p:sp>
        <p:nvSpPr>
          <p:cNvPr id="56" name="TextBox 56"/>
          <p:cNvSpPr txBox="1"/>
          <p:nvPr/>
        </p:nvSpPr>
        <p:spPr>
          <a:xfrm>
            <a:off x="3900578" y="8418018"/>
            <a:ext cx="9694389" cy="1017397"/>
          </a:xfrm>
          <a:prstGeom prst="rect">
            <a:avLst/>
          </a:prstGeom>
        </p:spPr>
        <p:txBody>
          <a:bodyPr lIns="0" tIns="0" rIns="0" bIns="0" rtlCol="0" anchor="t">
            <a:spAutoFit/>
          </a:bodyPr>
          <a:lstStyle/>
          <a:p>
            <a:pPr marL="0" lvl="0" indent="0" algn="ctr">
              <a:lnSpc>
                <a:spcPts val="8023"/>
              </a:lnSpc>
              <a:spcBef>
                <a:spcPct val="0"/>
              </a:spcBef>
            </a:pPr>
            <a:r>
              <a:rPr lang="en-US" sz="6799" b="1">
                <a:solidFill>
                  <a:srgbClr val="000000"/>
                </a:solidFill>
                <a:latin typeface="Montserrat Bold"/>
                <a:ea typeface="Montserrat Bold"/>
                <a:cs typeface="Montserrat Bold"/>
                <a:sym typeface="Montserrat Bold"/>
              </a:rPr>
              <a:t>2 · Product Workflow</a:t>
            </a:r>
          </a:p>
        </p:txBody>
      </p:sp>
      <p:sp>
        <p:nvSpPr>
          <p:cNvPr id="57" name="TextBox 57"/>
          <p:cNvSpPr txBox="1"/>
          <p:nvPr/>
        </p:nvSpPr>
        <p:spPr>
          <a:xfrm>
            <a:off x="4999415" y="9444940"/>
            <a:ext cx="8289171" cy="605342"/>
          </a:xfrm>
          <a:prstGeom prst="rect">
            <a:avLst/>
          </a:prstGeom>
        </p:spPr>
        <p:txBody>
          <a:bodyPr lIns="0" tIns="0" rIns="0" bIns="0" rtlCol="0" anchor="t">
            <a:spAutoFit/>
          </a:bodyPr>
          <a:lstStyle/>
          <a:p>
            <a:pPr marL="0" lvl="0" indent="0" algn="ctr">
              <a:lnSpc>
                <a:spcPts val="2447"/>
              </a:lnSpc>
              <a:spcBef>
                <a:spcPct val="0"/>
              </a:spcBef>
            </a:pPr>
            <a:r>
              <a:rPr lang="en-US" sz="2073" b="1">
                <a:solidFill>
                  <a:srgbClr val="000000"/>
                </a:solidFill>
                <a:latin typeface="Montserrat Medium"/>
                <a:ea typeface="Montserrat Medium"/>
                <a:cs typeface="Montserrat Medium"/>
                <a:sym typeface="Montserrat Medium"/>
              </a:rPr>
              <a:t>From Unfallatlas crashes to route recommendation</a:t>
            </a:r>
          </a:p>
          <a:p>
            <a:pPr marL="0" lvl="0" indent="0" algn="ctr">
              <a:lnSpc>
                <a:spcPts val="2447"/>
              </a:lnSpc>
              <a:spcBef>
                <a:spcPct val="0"/>
              </a:spcBef>
            </a:pPr>
            <a:endParaRPr lang="en-US" sz="2073" b="1">
              <a:solidFill>
                <a:srgbClr val="000000"/>
              </a:solidFill>
              <a:latin typeface="Montserrat Medium"/>
              <a:ea typeface="Montserrat Medium"/>
              <a:cs typeface="Montserrat Medium"/>
              <a:sym typeface="Montserrat Medium"/>
            </a:endParaRPr>
          </a:p>
        </p:txBody>
      </p:sp>
      <p:sp>
        <p:nvSpPr>
          <p:cNvPr id="58" name="Freeform 58"/>
          <p:cNvSpPr/>
          <p:nvPr/>
        </p:nvSpPr>
        <p:spPr>
          <a:xfrm>
            <a:off x="2858409" y="3998804"/>
            <a:ext cx="585671" cy="585671"/>
          </a:xfrm>
          <a:custGeom>
            <a:avLst/>
            <a:gdLst/>
            <a:ahLst/>
            <a:cxnLst/>
            <a:rect l="l" t="t" r="r" b="b"/>
            <a:pathLst>
              <a:path w="585671" h="585671">
                <a:moveTo>
                  <a:pt x="0" y="0"/>
                </a:moveTo>
                <a:lnTo>
                  <a:pt x="585671" y="0"/>
                </a:lnTo>
                <a:lnTo>
                  <a:pt x="585671" y="585670"/>
                </a:lnTo>
                <a:lnTo>
                  <a:pt x="0" y="5856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9" name="Freeform 59"/>
          <p:cNvSpPr/>
          <p:nvPr/>
        </p:nvSpPr>
        <p:spPr>
          <a:xfrm>
            <a:off x="6831519" y="3998804"/>
            <a:ext cx="585671" cy="585671"/>
          </a:xfrm>
          <a:custGeom>
            <a:avLst/>
            <a:gdLst/>
            <a:ahLst/>
            <a:cxnLst/>
            <a:rect l="l" t="t" r="r" b="b"/>
            <a:pathLst>
              <a:path w="585671" h="585671">
                <a:moveTo>
                  <a:pt x="0" y="0"/>
                </a:moveTo>
                <a:lnTo>
                  <a:pt x="585670" y="0"/>
                </a:lnTo>
                <a:lnTo>
                  <a:pt x="585670" y="585670"/>
                </a:lnTo>
                <a:lnTo>
                  <a:pt x="0" y="585670"/>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60" name="Group 60"/>
          <p:cNvGrpSpPr/>
          <p:nvPr/>
        </p:nvGrpSpPr>
        <p:grpSpPr>
          <a:xfrm rot="2700000">
            <a:off x="15086061" y="6643036"/>
            <a:ext cx="2822655" cy="2822655"/>
            <a:chOff x="0" y="0"/>
            <a:chExt cx="812800" cy="812800"/>
          </a:xfrm>
        </p:grpSpPr>
        <p:sp>
          <p:nvSpPr>
            <p:cNvPr id="61" name="Freeform 61"/>
            <p:cNvSpPr/>
            <p:nvPr/>
          </p:nvSpPr>
          <p:spPr>
            <a:xfrm>
              <a:off x="0" y="0"/>
              <a:ext cx="812800" cy="812800"/>
            </a:xfrm>
            <a:custGeom>
              <a:avLst/>
              <a:gdLst/>
              <a:ahLst/>
              <a:cxnLst/>
              <a:rect l="l" t="t" r="r" b="b"/>
              <a:pathLst>
                <a:path w="812800" h="812800">
                  <a:moveTo>
                    <a:pt x="139882" y="0"/>
                  </a:moveTo>
                  <a:lnTo>
                    <a:pt x="672918" y="0"/>
                  </a:lnTo>
                  <a:cubicBezTo>
                    <a:pt x="710017" y="0"/>
                    <a:pt x="745597" y="14737"/>
                    <a:pt x="771830" y="40970"/>
                  </a:cubicBezTo>
                  <a:cubicBezTo>
                    <a:pt x="798062" y="67203"/>
                    <a:pt x="812800" y="102783"/>
                    <a:pt x="812800" y="139882"/>
                  </a:cubicBezTo>
                  <a:lnTo>
                    <a:pt x="812800" y="672918"/>
                  </a:lnTo>
                  <a:cubicBezTo>
                    <a:pt x="812800" y="710017"/>
                    <a:pt x="798062" y="745597"/>
                    <a:pt x="771830" y="771830"/>
                  </a:cubicBezTo>
                  <a:cubicBezTo>
                    <a:pt x="745597" y="798062"/>
                    <a:pt x="710017" y="812800"/>
                    <a:pt x="672918" y="812800"/>
                  </a:cubicBezTo>
                  <a:lnTo>
                    <a:pt x="139882" y="812800"/>
                  </a:lnTo>
                  <a:cubicBezTo>
                    <a:pt x="102783" y="812800"/>
                    <a:pt x="67203" y="798062"/>
                    <a:pt x="40970" y="771830"/>
                  </a:cubicBezTo>
                  <a:cubicBezTo>
                    <a:pt x="14737" y="745597"/>
                    <a:pt x="0" y="710017"/>
                    <a:pt x="0" y="672918"/>
                  </a:cubicBezTo>
                  <a:lnTo>
                    <a:pt x="0" y="139882"/>
                  </a:lnTo>
                  <a:cubicBezTo>
                    <a:pt x="0" y="102783"/>
                    <a:pt x="14737" y="67203"/>
                    <a:pt x="40970" y="40970"/>
                  </a:cubicBezTo>
                  <a:cubicBezTo>
                    <a:pt x="67203" y="14737"/>
                    <a:pt x="102783" y="0"/>
                    <a:pt x="139882" y="0"/>
                  </a:cubicBezTo>
                  <a:close/>
                </a:path>
              </a:pathLst>
            </a:custGeom>
            <a:solidFill>
              <a:srgbClr val="BCBFFF"/>
            </a:solidFill>
          </p:spPr>
        </p:sp>
        <p:sp>
          <p:nvSpPr>
            <p:cNvPr id="62" name="TextBox 62"/>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63" name="Group 63"/>
          <p:cNvGrpSpPr/>
          <p:nvPr/>
        </p:nvGrpSpPr>
        <p:grpSpPr>
          <a:xfrm>
            <a:off x="16274087" y="5809352"/>
            <a:ext cx="853587" cy="853587"/>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8F1"/>
            </a:solidFill>
          </p:spPr>
        </p:sp>
        <p:sp>
          <p:nvSpPr>
            <p:cNvPr id="65" name="TextBox 65"/>
            <p:cNvSpPr txBox="1"/>
            <p:nvPr/>
          </p:nvSpPr>
          <p:spPr>
            <a:xfrm>
              <a:off x="76200" y="47625"/>
              <a:ext cx="660400" cy="688975"/>
            </a:xfrm>
            <a:prstGeom prst="rect">
              <a:avLst/>
            </a:prstGeom>
          </p:spPr>
          <p:txBody>
            <a:bodyPr lIns="50800" tIns="50800" rIns="50800" bIns="50800" rtlCol="0" anchor="ctr"/>
            <a:lstStyle/>
            <a:p>
              <a:pPr marL="0" lvl="0" indent="0" algn="ctr">
                <a:lnSpc>
                  <a:spcPts val="2380"/>
                </a:lnSpc>
              </a:pPr>
              <a:r>
                <a:rPr lang="en-US" sz="1700" b="1">
                  <a:solidFill>
                    <a:srgbClr val="000000"/>
                  </a:solidFill>
                  <a:latin typeface="Montserrat Bold"/>
                  <a:ea typeface="Montserrat Bold"/>
                  <a:cs typeface="Montserrat Bold"/>
                  <a:sym typeface="Montserrat Bold"/>
                </a:rPr>
                <a:t>8</a:t>
              </a:r>
            </a:p>
          </p:txBody>
        </p:sp>
      </p:grpSp>
      <p:sp>
        <p:nvSpPr>
          <p:cNvPr id="66" name="TextBox 66"/>
          <p:cNvSpPr txBox="1"/>
          <p:nvPr/>
        </p:nvSpPr>
        <p:spPr>
          <a:xfrm>
            <a:off x="15242571" y="7430899"/>
            <a:ext cx="2509636" cy="1227879"/>
          </a:xfrm>
          <a:prstGeom prst="rect">
            <a:avLst/>
          </a:prstGeom>
        </p:spPr>
        <p:txBody>
          <a:bodyPr lIns="0" tIns="0" rIns="0" bIns="0" rtlCol="0" anchor="t">
            <a:spAutoFit/>
          </a:bodyPr>
          <a:lstStyle/>
          <a:p>
            <a:pPr marL="0" lvl="0" indent="0" algn="ctr">
              <a:lnSpc>
                <a:spcPts val="2447"/>
              </a:lnSpc>
            </a:pPr>
            <a:r>
              <a:rPr lang="en-US" sz="1911" b="1">
                <a:solidFill>
                  <a:srgbClr val="000000"/>
                </a:solidFill>
                <a:latin typeface="Montserrat Bold"/>
                <a:ea typeface="Montserrat Bold"/>
                <a:cs typeface="Montserrat Bold"/>
                <a:sym typeface="Montserrat Bold"/>
              </a:rPr>
              <a:t>Limitations</a:t>
            </a:r>
          </a:p>
          <a:p>
            <a:pPr marL="0" lvl="0" indent="0" algn="ctr">
              <a:lnSpc>
                <a:spcPts val="2447"/>
              </a:lnSpc>
            </a:pPr>
            <a:r>
              <a:rPr lang="en-US" sz="1911" b="1">
                <a:solidFill>
                  <a:srgbClr val="000000"/>
                </a:solidFill>
                <a:latin typeface="Montserrat Bold"/>
                <a:ea typeface="Montserrat Bold"/>
                <a:cs typeface="Montserrat Bold"/>
                <a:sym typeface="Montserrat Bold"/>
              </a:rPr>
              <a:t>Exposure and Time</a:t>
            </a:r>
          </a:p>
          <a:p>
            <a:pPr marL="0" lvl="0" indent="0" algn="ctr">
              <a:lnSpc>
                <a:spcPts val="2447"/>
              </a:lnSpc>
            </a:pPr>
            <a:r>
              <a:rPr lang="en-US" sz="1911" b="1">
                <a:solidFill>
                  <a:srgbClr val="000000"/>
                </a:solidFill>
                <a:latin typeface="Montserrat Bold"/>
                <a:ea typeface="Montserrat Bold"/>
                <a:cs typeface="Montserrat Bold"/>
                <a:sym typeface="Montserrat Bold"/>
              </a:rPr>
              <a:t>effects are explicit</a:t>
            </a:r>
          </a:p>
          <a:p>
            <a:pPr marL="0" lvl="0" indent="0" algn="ctr">
              <a:lnSpc>
                <a:spcPts val="2447"/>
              </a:lnSpc>
            </a:pPr>
            <a:endParaRPr lang="en-US" sz="1911" b="1">
              <a:solidFill>
                <a:srgbClr val="000000"/>
              </a:solidFill>
              <a:latin typeface="Montserrat Bold"/>
              <a:ea typeface="Montserrat Bold"/>
              <a:cs typeface="Montserrat Bold"/>
              <a:sym typeface="Montserrat Bold"/>
            </a:endParaRPr>
          </a:p>
        </p:txBody>
      </p:sp>
      <p:sp>
        <p:nvSpPr>
          <p:cNvPr id="68" name="Text 8">
            <a:extLst>
              <a:ext uri="{FF2B5EF4-FFF2-40B4-BE49-F238E27FC236}">
                <a16:creationId xmlns:a16="http://schemas.microsoft.com/office/drawing/2014/main" id="{50C543E9-BE42-2232-B8B6-9A9578B72BB1}"/>
              </a:ext>
            </a:extLst>
          </p:cNvPr>
          <p:cNvSpPr/>
          <p:nvPr/>
        </p:nvSpPr>
        <p:spPr>
          <a:xfrm>
            <a:off x="17207369" y="9651067"/>
            <a:ext cx="713232" cy="329184"/>
          </a:xfrm>
          <a:prstGeom prst="rect">
            <a:avLst/>
          </a:prstGeom>
          <a:noFill/>
          <a:ln/>
        </p:spPr>
        <p:txBody>
          <a:bodyPr wrap="square" lIns="0" tIns="0" rIns="0" bIns="0" rtlCol="0" anchor="ctr"/>
          <a:lstStyle/>
          <a:p>
            <a:pPr algn="r"/>
            <a:r>
              <a:rPr lang="en-US" sz="1500" b="1" dirty="0">
                <a:solidFill>
                  <a:srgbClr val="5C6874"/>
                </a:solidFill>
              </a:rPr>
              <a:t>2</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171910" y="384790"/>
            <a:ext cx="14817685" cy="1864809"/>
          </a:xfrm>
          <a:prstGeom prst="rect">
            <a:avLst/>
          </a:prstGeom>
        </p:spPr>
        <p:txBody>
          <a:bodyPr lIns="0" tIns="0" rIns="0" bIns="0" rtlCol="0" anchor="t">
            <a:spAutoFit/>
          </a:bodyPr>
          <a:lstStyle/>
          <a:p>
            <a:pPr algn="ctr">
              <a:lnSpc>
                <a:spcPts val="8865"/>
              </a:lnSpc>
            </a:pPr>
            <a:r>
              <a:rPr lang="en-US" sz="6332" b="1" dirty="0">
                <a:solidFill>
                  <a:srgbClr val="2D2261"/>
                </a:solidFill>
                <a:latin typeface="Red Hat Display Bold"/>
                <a:ea typeface="Red Hat Display Bold"/>
                <a:cs typeface="Red Hat Display Bold"/>
                <a:sym typeface="Red Hat Display Bold"/>
              </a:rPr>
              <a:t>3 · Dataset : Origin, Quality And EDA</a:t>
            </a:r>
          </a:p>
          <a:p>
            <a:pPr algn="ctr">
              <a:lnSpc>
                <a:spcPts val="6065"/>
              </a:lnSpc>
            </a:pPr>
            <a:endParaRPr lang="en-US" sz="6332" b="1" dirty="0">
              <a:solidFill>
                <a:srgbClr val="2D2261"/>
              </a:solidFill>
              <a:latin typeface="Red Hat Display Bold"/>
              <a:ea typeface="Red Hat Display Bold"/>
              <a:cs typeface="Red Hat Display Bold"/>
              <a:sym typeface="Red Hat Display Bold"/>
            </a:endParaRPr>
          </a:p>
        </p:txBody>
      </p:sp>
      <p:grpSp>
        <p:nvGrpSpPr>
          <p:cNvPr id="3" name="Group 3"/>
          <p:cNvGrpSpPr/>
          <p:nvPr/>
        </p:nvGrpSpPr>
        <p:grpSpPr>
          <a:xfrm>
            <a:off x="1447800" y="3021124"/>
            <a:ext cx="3499238" cy="1866815"/>
            <a:chOff x="0" y="0"/>
            <a:chExt cx="921610" cy="491672"/>
          </a:xfrm>
        </p:grpSpPr>
        <p:sp>
          <p:nvSpPr>
            <p:cNvPr id="4" name="Freeform 4"/>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5" name="TextBox 5"/>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6" name="TextBox 6"/>
          <p:cNvSpPr txBox="1"/>
          <p:nvPr/>
        </p:nvSpPr>
        <p:spPr>
          <a:xfrm>
            <a:off x="1734473" y="3443604"/>
            <a:ext cx="3018068" cy="1623696"/>
          </a:xfrm>
          <a:prstGeom prst="rect">
            <a:avLst/>
          </a:prstGeom>
        </p:spPr>
        <p:txBody>
          <a:bodyPr lIns="0" tIns="0" rIns="0" bIns="0" rtlCol="0" anchor="t">
            <a:spAutoFit/>
          </a:bodyPr>
          <a:lstStyle/>
          <a:p>
            <a:pPr algn="ctr">
              <a:lnSpc>
                <a:spcPts val="6579"/>
              </a:lnSpc>
            </a:pPr>
            <a:r>
              <a:rPr lang="en-US" sz="4699" b="1" dirty="0">
                <a:solidFill>
                  <a:srgbClr val="FBFCFE"/>
                </a:solidFill>
                <a:latin typeface="Red Hat Display Bold"/>
                <a:ea typeface="Red Hat Display Bold"/>
                <a:cs typeface="Red Hat Display Bold"/>
                <a:sym typeface="Red Hat Display Bold"/>
              </a:rPr>
              <a:t>37,948</a:t>
            </a:r>
          </a:p>
          <a:p>
            <a:pPr algn="ctr">
              <a:lnSpc>
                <a:spcPts val="6579"/>
              </a:lnSpc>
            </a:pPr>
            <a:endParaRPr lang="en-US" sz="4699" b="1" dirty="0">
              <a:solidFill>
                <a:srgbClr val="FBFCFE"/>
              </a:solidFill>
              <a:latin typeface="Red Hat Display Bold"/>
              <a:ea typeface="Red Hat Display Bold"/>
              <a:cs typeface="Red Hat Display Bold"/>
              <a:sym typeface="Red Hat Display Bold"/>
            </a:endParaRPr>
          </a:p>
        </p:txBody>
      </p:sp>
      <p:grpSp>
        <p:nvGrpSpPr>
          <p:cNvPr id="7" name="Group 7"/>
          <p:cNvGrpSpPr/>
          <p:nvPr/>
        </p:nvGrpSpPr>
        <p:grpSpPr>
          <a:xfrm>
            <a:off x="1475941" y="5905500"/>
            <a:ext cx="4103254" cy="3697518"/>
            <a:chOff x="0" y="0"/>
            <a:chExt cx="1080692" cy="973832"/>
          </a:xfrm>
        </p:grpSpPr>
        <p:sp>
          <p:nvSpPr>
            <p:cNvPr id="8" name="Freeform 8"/>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sp>
        <p:sp>
          <p:nvSpPr>
            <p:cNvPr id="9" name="TextBox 9"/>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grpSp>
        <p:nvGrpSpPr>
          <p:cNvPr id="10" name="Group 10"/>
          <p:cNvGrpSpPr/>
          <p:nvPr/>
        </p:nvGrpSpPr>
        <p:grpSpPr>
          <a:xfrm>
            <a:off x="5317833" y="3021124"/>
            <a:ext cx="3499238" cy="1866815"/>
            <a:chOff x="0" y="0"/>
            <a:chExt cx="921610" cy="491672"/>
          </a:xfrm>
        </p:grpSpPr>
        <p:sp>
          <p:nvSpPr>
            <p:cNvPr id="11" name="Freeform 11"/>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12" name="TextBox 12"/>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13" name="TextBox 13"/>
          <p:cNvSpPr txBox="1"/>
          <p:nvPr/>
        </p:nvSpPr>
        <p:spPr>
          <a:xfrm>
            <a:off x="5718698" y="3009900"/>
            <a:ext cx="2734329" cy="2063115"/>
          </a:xfrm>
          <a:prstGeom prst="rect">
            <a:avLst/>
          </a:prstGeom>
        </p:spPr>
        <p:txBody>
          <a:bodyPr lIns="0" tIns="0" rIns="0" bIns="0" rtlCol="0" anchor="t">
            <a:spAutoFit/>
          </a:bodyPr>
          <a:lstStyle/>
          <a:p>
            <a:pPr algn="ctr">
              <a:lnSpc>
                <a:spcPts val="3359"/>
              </a:lnSpc>
            </a:pPr>
            <a:endParaRPr dirty="0"/>
          </a:p>
          <a:p>
            <a:pPr algn="ctr">
              <a:lnSpc>
                <a:spcPts val="6580"/>
              </a:lnSpc>
            </a:pPr>
            <a:r>
              <a:rPr lang="en-US" sz="4700" b="1" dirty="0">
                <a:solidFill>
                  <a:srgbClr val="FBFCFE"/>
                </a:solidFill>
                <a:latin typeface="Red Hat Display Bold"/>
                <a:ea typeface="Red Hat Display Bold"/>
                <a:cs typeface="Red Hat Display Bold"/>
                <a:sym typeface="Red Hat Display Bold"/>
              </a:rPr>
              <a:t>37,896</a:t>
            </a: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p:txBody>
      </p:sp>
      <p:grpSp>
        <p:nvGrpSpPr>
          <p:cNvPr id="14" name="Group 14"/>
          <p:cNvGrpSpPr/>
          <p:nvPr/>
        </p:nvGrpSpPr>
        <p:grpSpPr>
          <a:xfrm>
            <a:off x="7050087" y="5962861"/>
            <a:ext cx="4103254" cy="3697518"/>
            <a:chOff x="0" y="0"/>
            <a:chExt cx="1080692" cy="973832"/>
          </a:xfrm>
        </p:grpSpPr>
        <p:sp>
          <p:nvSpPr>
            <p:cNvPr id="15" name="Freeform 15"/>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sp>
        <p:sp>
          <p:nvSpPr>
            <p:cNvPr id="16" name="TextBox 16"/>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grpSp>
        <p:nvGrpSpPr>
          <p:cNvPr id="17" name="Group 17"/>
          <p:cNvGrpSpPr/>
          <p:nvPr/>
        </p:nvGrpSpPr>
        <p:grpSpPr>
          <a:xfrm>
            <a:off x="9187867" y="3021124"/>
            <a:ext cx="3499238" cy="1866815"/>
            <a:chOff x="0" y="0"/>
            <a:chExt cx="921610" cy="491672"/>
          </a:xfrm>
        </p:grpSpPr>
        <p:sp>
          <p:nvSpPr>
            <p:cNvPr id="18" name="Freeform 18"/>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19" name="TextBox 19"/>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20" name="TextBox 20"/>
          <p:cNvSpPr txBox="1"/>
          <p:nvPr/>
        </p:nvSpPr>
        <p:spPr>
          <a:xfrm>
            <a:off x="9588596" y="3390900"/>
            <a:ext cx="2734329" cy="795021"/>
          </a:xfrm>
          <a:prstGeom prst="rect">
            <a:avLst/>
          </a:prstGeom>
        </p:spPr>
        <p:txBody>
          <a:bodyPr lIns="0" tIns="0" rIns="0" bIns="0" rtlCol="0" anchor="t">
            <a:spAutoFit/>
          </a:bodyPr>
          <a:lstStyle/>
          <a:p>
            <a:pPr algn="ctr">
              <a:lnSpc>
                <a:spcPts val="6579"/>
              </a:lnSpc>
            </a:pPr>
            <a:r>
              <a:rPr lang="en-US" sz="4699" b="1" dirty="0">
                <a:solidFill>
                  <a:srgbClr val="FBFCFE"/>
                </a:solidFill>
                <a:latin typeface="Red Hat Display Bold"/>
                <a:ea typeface="Red Hat Display Bold"/>
                <a:cs typeface="Red Hat Display Bold"/>
                <a:sym typeface="Red Hat Display Bold"/>
              </a:rPr>
              <a:t>0.7 </a:t>
            </a:r>
          </a:p>
        </p:txBody>
      </p:sp>
      <p:grpSp>
        <p:nvGrpSpPr>
          <p:cNvPr id="21" name="Group 21"/>
          <p:cNvGrpSpPr/>
          <p:nvPr/>
        </p:nvGrpSpPr>
        <p:grpSpPr>
          <a:xfrm>
            <a:off x="12493660" y="5962861"/>
            <a:ext cx="4069881" cy="3697518"/>
            <a:chOff x="0" y="0"/>
            <a:chExt cx="1071903" cy="973832"/>
          </a:xfrm>
        </p:grpSpPr>
        <p:sp>
          <p:nvSpPr>
            <p:cNvPr id="22" name="Freeform 22"/>
            <p:cNvSpPr/>
            <p:nvPr/>
          </p:nvSpPr>
          <p:spPr>
            <a:xfrm>
              <a:off x="0" y="0"/>
              <a:ext cx="1071903" cy="973832"/>
            </a:xfrm>
            <a:custGeom>
              <a:avLst/>
              <a:gdLst/>
              <a:ahLst/>
              <a:cxnLst/>
              <a:rect l="l" t="t" r="r" b="b"/>
              <a:pathLst>
                <a:path w="1071903" h="973832">
                  <a:moveTo>
                    <a:pt x="57067" y="0"/>
                  </a:moveTo>
                  <a:lnTo>
                    <a:pt x="1014835" y="0"/>
                  </a:lnTo>
                  <a:cubicBezTo>
                    <a:pt x="1046353" y="0"/>
                    <a:pt x="1071903" y="25550"/>
                    <a:pt x="1071903" y="57067"/>
                  </a:cubicBezTo>
                  <a:lnTo>
                    <a:pt x="1071903" y="916764"/>
                  </a:lnTo>
                  <a:cubicBezTo>
                    <a:pt x="1071903" y="931900"/>
                    <a:pt x="1065890" y="946415"/>
                    <a:pt x="1055188" y="957117"/>
                  </a:cubicBezTo>
                  <a:cubicBezTo>
                    <a:pt x="1044486" y="967820"/>
                    <a:pt x="1029971" y="973832"/>
                    <a:pt x="1014835" y="973832"/>
                  </a:cubicBezTo>
                  <a:lnTo>
                    <a:pt x="57067" y="973832"/>
                  </a:lnTo>
                  <a:cubicBezTo>
                    <a:pt x="41932" y="973832"/>
                    <a:pt x="27417" y="967820"/>
                    <a:pt x="16715" y="957117"/>
                  </a:cubicBezTo>
                  <a:cubicBezTo>
                    <a:pt x="6012" y="946415"/>
                    <a:pt x="0" y="931900"/>
                    <a:pt x="0" y="916764"/>
                  </a:cubicBezTo>
                  <a:lnTo>
                    <a:pt x="0" y="57067"/>
                  </a:lnTo>
                  <a:cubicBezTo>
                    <a:pt x="0" y="41932"/>
                    <a:pt x="6012" y="27417"/>
                    <a:pt x="16715" y="16715"/>
                  </a:cubicBezTo>
                  <a:cubicBezTo>
                    <a:pt x="27417" y="6012"/>
                    <a:pt x="41932" y="0"/>
                    <a:pt x="57067" y="0"/>
                  </a:cubicBezTo>
                  <a:close/>
                </a:path>
              </a:pathLst>
            </a:custGeom>
            <a:solidFill>
              <a:srgbClr val="ECE1D7"/>
            </a:solidFill>
          </p:spPr>
        </p:sp>
        <p:sp>
          <p:nvSpPr>
            <p:cNvPr id="23" name="TextBox 23"/>
            <p:cNvSpPr txBox="1"/>
            <p:nvPr/>
          </p:nvSpPr>
          <p:spPr>
            <a:xfrm>
              <a:off x="0" y="-47625"/>
              <a:ext cx="1071903" cy="1021457"/>
            </a:xfrm>
            <a:prstGeom prst="rect">
              <a:avLst/>
            </a:prstGeom>
          </p:spPr>
          <p:txBody>
            <a:bodyPr lIns="50800" tIns="50800" rIns="50800" bIns="50800" rtlCol="0" anchor="ctr"/>
            <a:lstStyle/>
            <a:p>
              <a:pPr algn="ctr">
                <a:lnSpc>
                  <a:spcPts val="3032"/>
                </a:lnSpc>
              </a:pPr>
              <a:endParaRPr/>
            </a:p>
          </p:txBody>
        </p:sp>
      </p:grpSp>
      <p:grpSp>
        <p:nvGrpSpPr>
          <p:cNvPr id="24" name="Group 24"/>
          <p:cNvGrpSpPr/>
          <p:nvPr/>
        </p:nvGrpSpPr>
        <p:grpSpPr>
          <a:xfrm>
            <a:off x="13057900" y="3021124"/>
            <a:ext cx="3499238" cy="1866815"/>
            <a:chOff x="0" y="0"/>
            <a:chExt cx="921610" cy="491672"/>
          </a:xfrm>
        </p:grpSpPr>
        <p:sp>
          <p:nvSpPr>
            <p:cNvPr id="25" name="Freeform 25"/>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26" name="TextBox 26"/>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27" name="TextBox 27"/>
          <p:cNvSpPr txBox="1"/>
          <p:nvPr/>
        </p:nvSpPr>
        <p:spPr>
          <a:xfrm>
            <a:off x="13439341" y="3519805"/>
            <a:ext cx="2734329" cy="1623695"/>
          </a:xfrm>
          <a:prstGeom prst="rect">
            <a:avLst/>
          </a:prstGeom>
        </p:spPr>
        <p:txBody>
          <a:bodyPr lIns="0" tIns="0" rIns="0" bIns="0" rtlCol="0" anchor="t">
            <a:spAutoFit/>
          </a:bodyPr>
          <a:lstStyle/>
          <a:p>
            <a:pPr algn="ctr">
              <a:lnSpc>
                <a:spcPts val="6580"/>
              </a:lnSpc>
            </a:pPr>
            <a:r>
              <a:rPr lang="en-US" sz="4700" b="1" dirty="0">
                <a:solidFill>
                  <a:srgbClr val="FBFCFE"/>
                </a:solidFill>
                <a:latin typeface="Red Hat Display Bold"/>
                <a:ea typeface="Red Hat Display Bold"/>
                <a:cs typeface="Red Hat Display Bold"/>
                <a:sym typeface="Red Hat Display Bold"/>
              </a:rPr>
              <a:t>80.8%</a:t>
            </a:r>
          </a:p>
          <a:p>
            <a:pPr algn="ctr">
              <a:lnSpc>
                <a:spcPts val="6580"/>
              </a:lnSpc>
            </a:pPr>
            <a:endParaRPr lang="en-US" sz="4700" b="1" dirty="0">
              <a:solidFill>
                <a:srgbClr val="FBFCFE"/>
              </a:solidFill>
              <a:latin typeface="Red Hat Display Bold"/>
              <a:ea typeface="Red Hat Display Bold"/>
              <a:cs typeface="Red Hat Display Bold"/>
              <a:sym typeface="Red Hat Display Bold"/>
            </a:endParaRPr>
          </a:p>
        </p:txBody>
      </p:sp>
      <p:sp>
        <p:nvSpPr>
          <p:cNvPr id="28" name="TextBox 28"/>
          <p:cNvSpPr txBox="1"/>
          <p:nvPr/>
        </p:nvSpPr>
        <p:spPr>
          <a:xfrm>
            <a:off x="2347387" y="3009900"/>
            <a:ext cx="1700064" cy="241815"/>
          </a:xfrm>
          <a:prstGeom prst="rect">
            <a:avLst/>
          </a:prstGeom>
        </p:spPr>
        <p:txBody>
          <a:bodyPr lIns="0" tIns="0" rIns="0" bIns="0" rtlCol="0" anchor="t">
            <a:spAutoFit/>
          </a:bodyPr>
          <a:lstStyle/>
          <a:p>
            <a:pPr algn="ctr">
              <a:lnSpc>
                <a:spcPts val="1935"/>
              </a:lnSpc>
              <a:spcBef>
                <a:spcPct val="0"/>
              </a:spcBef>
            </a:pPr>
            <a:r>
              <a:rPr lang="en-US" sz="1511" b="1" dirty="0">
                <a:solidFill>
                  <a:srgbClr val="000000"/>
                </a:solidFill>
                <a:latin typeface="Montserrat Bold"/>
                <a:ea typeface="Montserrat Bold"/>
                <a:cs typeface="Montserrat Bold"/>
                <a:sym typeface="Montserrat Bold"/>
              </a:rPr>
              <a:t>CLEAN CRASHES</a:t>
            </a:r>
          </a:p>
        </p:txBody>
      </p:sp>
      <p:sp>
        <p:nvSpPr>
          <p:cNvPr id="29" name="TextBox 29"/>
          <p:cNvSpPr txBox="1"/>
          <p:nvPr/>
        </p:nvSpPr>
        <p:spPr>
          <a:xfrm>
            <a:off x="2016472" y="4248122"/>
            <a:ext cx="2441228" cy="507499"/>
          </a:xfrm>
          <a:prstGeom prst="rect">
            <a:avLst/>
          </a:prstGeom>
        </p:spPr>
        <p:txBody>
          <a:bodyPr lIns="0" tIns="0" rIns="0" bIns="0" rtlCol="0" anchor="t">
            <a:spAutoFit/>
          </a:bodyPr>
          <a:lstStyle/>
          <a:p>
            <a:pPr algn="ctr">
              <a:lnSpc>
                <a:spcPts val="2063"/>
              </a:lnSpc>
              <a:spcBef>
                <a:spcPct val="0"/>
              </a:spcBef>
            </a:pPr>
            <a:r>
              <a:rPr lang="en-US" sz="1611" b="1" dirty="0">
                <a:solidFill>
                  <a:srgbClr val="000000"/>
                </a:solidFill>
                <a:latin typeface="Montserrat Bold"/>
                <a:ea typeface="Montserrat Bold"/>
                <a:cs typeface="Montserrat Bold"/>
                <a:sym typeface="Montserrat Bold"/>
              </a:rPr>
              <a:t>Berlin bicycle crashes, </a:t>
            </a:r>
          </a:p>
          <a:p>
            <a:pPr algn="ctr">
              <a:lnSpc>
                <a:spcPts val="2063"/>
              </a:lnSpc>
              <a:spcBef>
                <a:spcPct val="0"/>
              </a:spcBef>
            </a:pPr>
            <a:r>
              <a:rPr lang="en-US" sz="1611" b="1" dirty="0">
                <a:solidFill>
                  <a:srgbClr val="000000"/>
                </a:solidFill>
                <a:latin typeface="Montserrat Bold"/>
                <a:ea typeface="Montserrat Bold"/>
                <a:cs typeface="Montserrat Bold"/>
                <a:sym typeface="Montserrat Bold"/>
              </a:rPr>
              <a:t>2018–2025</a:t>
            </a:r>
          </a:p>
        </p:txBody>
      </p:sp>
      <p:sp>
        <p:nvSpPr>
          <p:cNvPr id="30" name="TextBox 30"/>
          <p:cNvSpPr txBox="1"/>
          <p:nvPr/>
        </p:nvSpPr>
        <p:spPr>
          <a:xfrm>
            <a:off x="6152233" y="3009900"/>
            <a:ext cx="1830437" cy="241935"/>
          </a:xfrm>
          <a:prstGeom prst="rect">
            <a:avLst/>
          </a:prstGeom>
        </p:spPr>
        <p:txBody>
          <a:bodyPr lIns="0" tIns="0" rIns="0" bIns="0" rtlCol="0" anchor="t">
            <a:spAutoFit/>
          </a:bodyPr>
          <a:lstStyle/>
          <a:p>
            <a:pPr algn="ctr">
              <a:lnSpc>
                <a:spcPts val="1920"/>
              </a:lnSpc>
              <a:spcBef>
                <a:spcPct val="0"/>
              </a:spcBef>
            </a:pPr>
            <a:r>
              <a:rPr lang="en-US" sz="1500" b="1" dirty="0">
                <a:solidFill>
                  <a:srgbClr val="000000"/>
                </a:solidFill>
                <a:latin typeface="Montserrat Bold"/>
                <a:ea typeface="Montserrat Bold"/>
                <a:cs typeface="Montserrat Bold"/>
                <a:sym typeface="Montserrat Bold"/>
              </a:rPr>
              <a:t>SNAPPED TO OSM</a:t>
            </a:r>
          </a:p>
        </p:txBody>
      </p:sp>
      <p:sp>
        <p:nvSpPr>
          <p:cNvPr id="31" name="TextBox 31"/>
          <p:cNvSpPr txBox="1"/>
          <p:nvPr/>
        </p:nvSpPr>
        <p:spPr>
          <a:xfrm>
            <a:off x="6183220" y="4376141"/>
            <a:ext cx="1805285" cy="241935"/>
          </a:xfrm>
          <a:prstGeom prst="rect">
            <a:avLst/>
          </a:prstGeom>
        </p:spPr>
        <p:txBody>
          <a:bodyPr lIns="0" tIns="0" rIns="0" bIns="0" rtlCol="0" anchor="t">
            <a:spAutoFit/>
          </a:bodyPr>
          <a:lstStyle/>
          <a:p>
            <a:pPr algn="ctr">
              <a:lnSpc>
                <a:spcPts val="1920"/>
              </a:lnSpc>
              <a:spcBef>
                <a:spcPct val="0"/>
              </a:spcBef>
            </a:pPr>
            <a:r>
              <a:rPr lang="en-US" sz="1500" b="1">
                <a:solidFill>
                  <a:srgbClr val="000000"/>
                </a:solidFill>
                <a:latin typeface="Montserrat Bold"/>
                <a:ea typeface="Montserrat Bold"/>
                <a:cs typeface="Montserrat Bold"/>
                <a:sym typeface="Montserrat Bold"/>
              </a:rPr>
              <a:t>99.9% within 25 m</a:t>
            </a:r>
          </a:p>
        </p:txBody>
      </p:sp>
      <p:sp>
        <p:nvSpPr>
          <p:cNvPr id="32" name="TextBox 32"/>
          <p:cNvSpPr txBox="1"/>
          <p:nvPr/>
        </p:nvSpPr>
        <p:spPr>
          <a:xfrm>
            <a:off x="10053833" y="3009900"/>
            <a:ext cx="1654373" cy="241935"/>
          </a:xfrm>
          <a:prstGeom prst="rect">
            <a:avLst/>
          </a:prstGeom>
        </p:spPr>
        <p:txBody>
          <a:bodyPr lIns="0" tIns="0" rIns="0" bIns="0" rtlCol="0" anchor="t">
            <a:spAutoFit/>
          </a:bodyPr>
          <a:lstStyle/>
          <a:p>
            <a:pPr algn="ctr">
              <a:lnSpc>
                <a:spcPts val="1920"/>
              </a:lnSpc>
              <a:spcBef>
                <a:spcPct val="0"/>
              </a:spcBef>
            </a:pPr>
            <a:r>
              <a:rPr lang="en-US" sz="1500" b="1" dirty="0">
                <a:solidFill>
                  <a:srgbClr val="000000"/>
                </a:solidFill>
                <a:latin typeface="Montserrat Bold"/>
                <a:ea typeface="Montserrat Bold"/>
                <a:cs typeface="Montserrat Bold"/>
                <a:sym typeface="Montserrat Bold"/>
              </a:rPr>
              <a:t>MEDIAN OFFSET</a:t>
            </a:r>
          </a:p>
        </p:txBody>
      </p:sp>
      <p:sp>
        <p:nvSpPr>
          <p:cNvPr id="33" name="TextBox 33"/>
          <p:cNvSpPr txBox="1"/>
          <p:nvPr/>
        </p:nvSpPr>
        <p:spPr>
          <a:xfrm>
            <a:off x="9748705" y="4305300"/>
            <a:ext cx="2371576" cy="241815"/>
          </a:xfrm>
          <a:prstGeom prst="rect">
            <a:avLst/>
          </a:prstGeom>
        </p:spPr>
        <p:txBody>
          <a:bodyPr lIns="0" tIns="0" rIns="0" bIns="0" rtlCol="0" anchor="t">
            <a:spAutoFit/>
          </a:bodyPr>
          <a:lstStyle/>
          <a:p>
            <a:pPr algn="ctr">
              <a:lnSpc>
                <a:spcPts val="1935"/>
              </a:lnSpc>
              <a:spcBef>
                <a:spcPct val="0"/>
              </a:spcBef>
            </a:pPr>
            <a:r>
              <a:rPr lang="en-US" sz="1511" b="1" dirty="0">
                <a:solidFill>
                  <a:srgbClr val="000000"/>
                </a:solidFill>
                <a:latin typeface="Montserrat Bold"/>
                <a:ea typeface="Montserrat Bold"/>
                <a:cs typeface="Montserrat Bold"/>
                <a:sym typeface="Montserrat Bold"/>
              </a:rPr>
              <a:t>High coordinate quality</a:t>
            </a:r>
          </a:p>
        </p:txBody>
      </p:sp>
      <p:sp>
        <p:nvSpPr>
          <p:cNvPr id="34" name="TextBox 34"/>
          <p:cNvSpPr txBox="1"/>
          <p:nvPr/>
        </p:nvSpPr>
        <p:spPr>
          <a:xfrm>
            <a:off x="13544354" y="4487644"/>
            <a:ext cx="2349103" cy="241815"/>
          </a:xfrm>
          <a:prstGeom prst="rect">
            <a:avLst/>
          </a:prstGeom>
        </p:spPr>
        <p:txBody>
          <a:bodyPr lIns="0" tIns="0" rIns="0" bIns="0" rtlCol="0" anchor="t">
            <a:spAutoFit/>
          </a:bodyPr>
          <a:lstStyle/>
          <a:p>
            <a:pPr algn="ctr">
              <a:lnSpc>
                <a:spcPts val="1935"/>
              </a:lnSpc>
              <a:spcBef>
                <a:spcPct val="0"/>
              </a:spcBef>
            </a:pPr>
            <a:r>
              <a:rPr lang="en-US" sz="1511" b="1">
                <a:solidFill>
                  <a:srgbClr val="000000"/>
                </a:solidFill>
                <a:latin typeface="Montserrat Bold"/>
                <a:ea typeface="Montserrat Bold"/>
                <a:cs typeface="Montserrat Bold"/>
                <a:sym typeface="Montserrat Bold"/>
              </a:rPr>
              <a:t>within 20 m of node</a:t>
            </a:r>
          </a:p>
        </p:txBody>
      </p:sp>
      <p:sp>
        <p:nvSpPr>
          <p:cNvPr id="35" name="TextBox 35"/>
          <p:cNvSpPr txBox="1"/>
          <p:nvPr/>
        </p:nvSpPr>
        <p:spPr>
          <a:xfrm>
            <a:off x="13925354" y="3009900"/>
            <a:ext cx="1675061" cy="241815"/>
          </a:xfrm>
          <a:prstGeom prst="rect">
            <a:avLst/>
          </a:prstGeom>
        </p:spPr>
        <p:txBody>
          <a:bodyPr lIns="0" tIns="0" rIns="0" bIns="0" rtlCol="0" anchor="t">
            <a:spAutoFit/>
          </a:bodyPr>
          <a:lstStyle/>
          <a:p>
            <a:pPr algn="ctr">
              <a:lnSpc>
                <a:spcPts val="1935"/>
              </a:lnSpc>
              <a:spcBef>
                <a:spcPct val="0"/>
              </a:spcBef>
            </a:pPr>
            <a:r>
              <a:rPr lang="en-US" sz="1511" b="1" dirty="0">
                <a:solidFill>
                  <a:srgbClr val="000000"/>
                </a:solidFill>
                <a:latin typeface="Montserrat Bold"/>
                <a:ea typeface="Montserrat Bold"/>
                <a:cs typeface="Montserrat Bold"/>
                <a:sym typeface="Montserrat Bold"/>
              </a:rPr>
              <a:t>NEAR JUNCTION</a:t>
            </a:r>
          </a:p>
        </p:txBody>
      </p:sp>
      <p:sp>
        <p:nvSpPr>
          <p:cNvPr id="36" name="TextBox 36"/>
          <p:cNvSpPr txBox="1"/>
          <p:nvPr/>
        </p:nvSpPr>
        <p:spPr>
          <a:xfrm>
            <a:off x="1842367" y="6771287"/>
            <a:ext cx="3370400" cy="304426"/>
          </a:xfrm>
          <a:prstGeom prst="rect">
            <a:avLst/>
          </a:prstGeom>
        </p:spPr>
        <p:txBody>
          <a:bodyPr lIns="0" tIns="0" rIns="0" bIns="0" rtlCol="0" anchor="t">
            <a:spAutoFit/>
          </a:bodyPr>
          <a:lstStyle/>
          <a:p>
            <a:pPr algn="ctr">
              <a:lnSpc>
                <a:spcPts val="2447"/>
              </a:lnSpc>
              <a:spcBef>
                <a:spcPct val="0"/>
              </a:spcBef>
            </a:pPr>
            <a:r>
              <a:rPr lang="en-US" sz="1911" b="1" dirty="0" err="1">
                <a:solidFill>
                  <a:srgbClr val="000000"/>
                </a:solidFill>
                <a:latin typeface="Montserrat Bold"/>
                <a:ea typeface="Montserrat Bold"/>
                <a:cs typeface="Montserrat Bold"/>
                <a:sym typeface="Montserrat Bold"/>
              </a:rPr>
              <a:t>Unfallatlas</a:t>
            </a:r>
            <a:r>
              <a:rPr lang="en-US" sz="1911" b="1" dirty="0">
                <a:solidFill>
                  <a:srgbClr val="000000"/>
                </a:solidFill>
                <a:latin typeface="Montserrat Bold"/>
                <a:ea typeface="Montserrat Bold"/>
                <a:cs typeface="Montserrat Bold"/>
                <a:sym typeface="Montserrat Bold"/>
              </a:rPr>
              <a:t> </a:t>
            </a:r>
            <a:r>
              <a:rPr lang="en-US" sz="1911" dirty="0">
                <a:solidFill>
                  <a:srgbClr val="000000"/>
                </a:solidFill>
                <a:latin typeface="Montserrat"/>
                <a:ea typeface="Montserrat"/>
                <a:cs typeface="Montserrat"/>
                <a:sym typeface="Montserrat"/>
              </a:rPr>
              <a:t>crash records</a:t>
            </a:r>
          </a:p>
        </p:txBody>
      </p:sp>
      <p:sp>
        <p:nvSpPr>
          <p:cNvPr id="37" name="TextBox 37"/>
          <p:cNvSpPr txBox="1"/>
          <p:nvPr/>
        </p:nvSpPr>
        <p:spPr>
          <a:xfrm>
            <a:off x="1994153" y="7675788"/>
            <a:ext cx="2953357" cy="304426"/>
          </a:xfrm>
          <a:prstGeom prst="rect">
            <a:avLst/>
          </a:prstGeom>
        </p:spPr>
        <p:txBody>
          <a:bodyPr lIns="0" tIns="0" rIns="0" bIns="0" rtlCol="0" anchor="t">
            <a:spAutoFit/>
          </a:bodyPr>
          <a:lstStyle/>
          <a:p>
            <a:pPr algn="ctr">
              <a:lnSpc>
                <a:spcPts val="2447"/>
              </a:lnSpc>
              <a:spcBef>
                <a:spcPct val="0"/>
              </a:spcBef>
            </a:pPr>
            <a:r>
              <a:rPr lang="en-US" sz="1911" b="1">
                <a:solidFill>
                  <a:srgbClr val="000000"/>
                </a:solidFill>
                <a:latin typeface="Montserrat Bold"/>
                <a:ea typeface="Montserrat Bold"/>
                <a:cs typeface="Montserrat Bold"/>
                <a:sym typeface="Montserrat Bold"/>
              </a:rPr>
              <a:t>OSM </a:t>
            </a:r>
            <a:r>
              <a:rPr lang="en-US" sz="1911">
                <a:solidFill>
                  <a:srgbClr val="000000"/>
                </a:solidFill>
                <a:latin typeface="Montserrat"/>
                <a:ea typeface="Montserrat"/>
                <a:cs typeface="Montserrat"/>
                <a:sym typeface="Montserrat"/>
              </a:rPr>
              <a:t>bicycle road graph</a:t>
            </a:r>
          </a:p>
        </p:txBody>
      </p:sp>
      <p:sp>
        <p:nvSpPr>
          <p:cNvPr id="38" name="TextBox 38"/>
          <p:cNvSpPr txBox="1"/>
          <p:nvPr/>
        </p:nvSpPr>
        <p:spPr>
          <a:xfrm>
            <a:off x="1690582" y="8580288"/>
            <a:ext cx="3673971" cy="914026"/>
          </a:xfrm>
          <a:prstGeom prst="rect">
            <a:avLst/>
          </a:prstGeom>
        </p:spPr>
        <p:txBody>
          <a:bodyPr lIns="0" tIns="0" rIns="0" bIns="0" rtlCol="0" anchor="t">
            <a:spAutoFit/>
          </a:bodyPr>
          <a:lstStyle/>
          <a:p>
            <a:pPr algn="ctr">
              <a:lnSpc>
                <a:spcPts val="2447"/>
              </a:lnSpc>
              <a:spcBef>
                <a:spcPct val="0"/>
              </a:spcBef>
            </a:pPr>
            <a:r>
              <a:rPr lang="en-US" sz="1911" b="1">
                <a:solidFill>
                  <a:srgbClr val="000000"/>
                </a:solidFill>
                <a:latin typeface="Montserrat Bold"/>
                <a:ea typeface="Montserrat Bold"/>
                <a:cs typeface="Montserrat Bold"/>
                <a:sym typeface="Montserrat Bold"/>
              </a:rPr>
              <a:t>Edge features: </a:t>
            </a:r>
            <a:r>
              <a:rPr lang="en-US" sz="1911">
                <a:solidFill>
                  <a:srgbClr val="000000"/>
                </a:solidFill>
                <a:latin typeface="Montserrat"/>
                <a:ea typeface="Montserrat"/>
                <a:cs typeface="Montserrat"/>
                <a:sym typeface="Montserrat"/>
              </a:rPr>
              <a:t>road class         </a:t>
            </a:r>
          </a:p>
          <a:p>
            <a:pPr algn="ctr">
              <a:lnSpc>
                <a:spcPts val="2447"/>
              </a:lnSpc>
              <a:spcBef>
                <a:spcPct val="0"/>
              </a:spcBef>
            </a:pPr>
            <a:r>
              <a:rPr lang="en-US" sz="1911">
                <a:solidFill>
                  <a:srgbClr val="000000"/>
                </a:solidFill>
                <a:latin typeface="Montserrat"/>
                <a:ea typeface="Montserrat"/>
                <a:cs typeface="Montserrat"/>
                <a:sym typeface="Montserrat"/>
              </a:rPr>
              <a:t>length, cycleway, speed, limit</a:t>
            </a:r>
          </a:p>
          <a:p>
            <a:pPr algn="ctr">
              <a:lnSpc>
                <a:spcPts val="2447"/>
              </a:lnSpc>
              <a:spcBef>
                <a:spcPct val="0"/>
              </a:spcBef>
            </a:pPr>
            <a:endParaRPr lang="en-US" sz="1911">
              <a:solidFill>
                <a:srgbClr val="000000"/>
              </a:solidFill>
              <a:latin typeface="Montserrat"/>
              <a:ea typeface="Montserrat"/>
              <a:cs typeface="Montserrat"/>
              <a:sym typeface="Montserrat"/>
            </a:endParaRPr>
          </a:p>
        </p:txBody>
      </p:sp>
      <p:sp>
        <p:nvSpPr>
          <p:cNvPr id="39" name="TextBox 39"/>
          <p:cNvSpPr txBox="1"/>
          <p:nvPr/>
        </p:nvSpPr>
        <p:spPr>
          <a:xfrm>
            <a:off x="7203603" y="6971336"/>
            <a:ext cx="3150245" cy="304426"/>
          </a:xfrm>
          <a:prstGeom prst="rect">
            <a:avLst/>
          </a:prstGeom>
        </p:spPr>
        <p:txBody>
          <a:bodyPr lIns="0" tIns="0" rIns="0" bIns="0" rtlCol="0" anchor="t">
            <a:spAutoFit/>
          </a:bodyPr>
          <a:lstStyle/>
          <a:p>
            <a:pPr algn="ctr">
              <a:lnSpc>
                <a:spcPts val="2447"/>
              </a:lnSpc>
              <a:spcBef>
                <a:spcPct val="0"/>
              </a:spcBef>
            </a:pPr>
            <a:r>
              <a:rPr lang="en-US" sz="1911">
                <a:solidFill>
                  <a:srgbClr val="000000"/>
                </a:solidFill>
                <a:latin typeface="Montserrat"/>
                <a:ea typeface="Montserrat"/>
                <a:cs typeface="Montserrat"/>
                <a:sym typeface="Montserrat"/>
              </a:rPr>
              <a:t>25 m </a:t>
            </a:r>
            <a:r>
              <a:rPr lang="en-US" sz="1911" b="1">
                <a:solidFill>
                  <a:srgbClr val="000000"/>
                </a:solidFill>
                <a:latin typeface="Montserrat Bold"/>
                <a:ea typeface="Montserrat Bold"/>
                <a:cs typeface="Montserrat Bold"/>
                <a:sym typeface="Montserrat Bold"/>
              </a:rPr>
              <a:t>snapping threshold</a:t>
            </a:r>
          </a:p>
        </p:txBody>
      </p:sp>
      <p:sp>
        <p:nvSpPr>
          <p:cNvPr id="40" name="TextBox 40"/>
          <p:cNvSpPr txBox="1"/>
          <p:nvPr/>
        </p:nvSpPr>
        <p:spPr>
          <a:xfrm>
            <a:off x="7244349" y="7733149"/>
            <a:ext cx="3651052" cy="304426"/>
          </a:xfrm>
          <a:prstGeom prst="rect">
            <a:avLst/>
          </a:prstGeom>
        </p:spPr>
        <p:txBody>
          <a:bodyPr lIns="0" tIns="0" rIns="0" bIns="0" rtlCol="0" anchor="t">
            <a:spAutoFit/>
          </a:bodyPr>
          <a:lstStyle/>
          <a:p>
            <a:pPr algn="ctr">
              <a:lnSpc>
                <a:spcPts val="2447"/>
              </a:lnSpc>
              <a:spcBef>
                <a:spcPct val="0"/>
              </a:spcBef>
            </a:pPr>
            <a:r>
              <a:rPr lang="en-US" sz="1911" b="1">
                <a:solidFill>
                  <a:srgbClr val="000000"/>
                </a:solidFill>
                <a:latin typeface="Montserrat Bold"/>
                <a:ea typeface="Montserrat Bold"/>
                <a:cs typeface="Montserrat Bold"/>
                <a:sym typeface="Montserrat Bold"/>
              </a:rPr>
              <a:t>Junction </a:t>
            </a:r>
            <a:r>
              <a:rPr lang="en-US" sz="1911">
                <a:solidFill>
                  <a:srgbClr val="000000"/>
                </a:solidFill>
                <a:latin typeface="Montserrat"/>
                <a:ea typeface="Montserrat"/>
                <a:cs typeface="Montserrat"/>
                <a:sym typeface="Montserrat"/>
              </a:rPr>
              <a:t>Distance calculated</a:t>
            </a:r>
            <a:r>
              <a:rPr lang="en-US" sz="1911" b="1">
                <a:solidFill>
                  <a:srgbClr val="000000"/>
                </a:solidFill>
                <a:latin typeface="Montserrat Bold"/>
                <a:ea typeface="Montserrat Bold"/>
                <a:cs typeface="Montserrat Bold"/>
                <a:sym typeface="Montserrat Bold"/>
              </a:rPr>
              <a:t> </a:t>
            </a:r>
          </a:p>
        </p:txBody>
      </p:sp>
      <p:sp>
        <p:nvSpPr>
          <p:cNvPr id="41" name="TextBox 41"/>
          <p:cNvSpPr txBox="1"/>
          <p:nvPr/>
        </p:nvSpPr>
        <p:spPr>
          <a:xfrm>
            <a:off x="7050087" y="8637649"/>
            <a:ext cx="4103254" cy="609226"/>
          </a:xfrm>
          <a:prstGeom prst="rect">
            <a:avLst/>
          </a:prstGeom>
        </p:spPr>
        <p:txBody>
          <a:bodyPr lIns="0" tIns="0" rIns="0" bIns="0" rtlCol="0" anchor="t">
            <a:spAutoFit/>
          </a:bodyPr>
          <a:lstStyle/>
          <a:p>
            <a:pPr algn="ctr">
              <a:lnSpc>
                <a:spcPts val="2447"/>
              </a:lnSpc>
              <a:spcBef>
                <a:spcPct val="0"/>
              </a:spcBef>
            </a:pPr>
            <a:r>
              <a:rPr lang="en-US" sz="1911">
                <a:solidFill>
                  <a:srgbClr val="000000"/>
                </a:solidFill>
                <a:latin typeface="Montserrat"/>
                <a:ea typeface="Montserrat"/>
                <a:cs typeface="Montserrat"/>
                <a:sym typeface="Montserrat"/>
              </a:rPr>
              <a:t>Raw columns kept for </a:t>
            </a:r>
            <a:r>
              <a:rPr lang="en-US" sz="1911" b="1">
                <a:solidFill>
                  <a:srgbClr val="000000"/>
                </a:solidFill>
                <a:latin typeface="Montserrat Bold"/>
                <a:ea typeface="Montserrat Bold"/>
                <a:cs typeface="Montserrat Bold"/>
                <a:sym typeface="Montserrat Bold"/>
              </a:rPr>
              <a:t>severity evidence</a:t>
            </a:r>
          </a:p>
        </p:txBody>
      </p:sp>
      <p:sp>
        <p:nvSpPr>
          <p:cNvPr id="42" name="TextBox 42"/>
          <p:cNvSpPr txBox="1"/>
          <p:nvPr/>
        </p:nvSpPr>
        <p:spPr>
          <a:xfrm>
            <a:off x="12718016" y="6724650"/>
            <a:ext cx="3722043" cy="304426"/>
          </a:xfrm>
          <a:prstGeom prst="rect">
            <a:avLst/>
          </a:prstGeom>
        </p:spPr>
        <p:txBody>
          <a:bodyPr lIns="0" tIns="0" rIns="0" bIns="0" rtlCol="0" anchor="t">
            <a:spAutoFit/>
          </a:bodyPr>
          <a:lstStyle/>
          <a:p>
            <a:pPr algn="ctr">
              <a:lnSpc>
                <a:spcPts val="2447"/>
              </a:lnSpc>
              <a:spcBef>
                <a:spcPct val="0"/>
              </a:spcBef>
            </a:pPr>
            <a:r>
              <a:rPr lang="en-US" sz="1911">
                <a:solidFill>
                  <a:srgbClr val="000000"/>
                </a:solidFill>
                <a:latin typeface="Montserrat"/>
                <a:ea typeface="Montserrat"/>
                <a:cs typeface="Montserrat"/>
                <a:sym typeface="Montserrat"/>
              </a:rPr>
              <a:t>Crashes are spatially </a:t>
            </a:r>
            <a:r>
              <a:rPr lang="en-US" sz="1911" b="1">
                <a:solidFill>
                  <a:srgbClr val="000000"/>
                </a:solidFill>
                <a:latin typeface="Montserrat Bold"/>
                <a:ea typeface="Montserrat Bold"/>
                <a:cs typeface="Montserrat Bold"/>
                <a:sym typeface="Montserrat Bold"/>
              </a:rPr>
              <a:t>clustered</a:t>
            </a:r>
          </a:p>
        </p:txBody>
      </p:sp>
      <p:sp>
        <p:nvSpPr>
          <p:cNvPr id="43" name="TextBox 43"/>
          <p:cNvSpPr txBox="1"/>
          <p:nvPr/>
        </p:nvSpPr>
        <p:spPr>
          <a:xfrm>
            <a:off x="12493660" y="7590461"/>
            <a:ext cx="4069881" cy="304426"/>
          </a:xfrm>
          <a:prstGeom prst="rect">
            <a:avLst/>
          </a:prstGeom>
        </p:spPr>
        <p:txBody>
          <a:bodyPr lIns="0" tIns="0" rIns="0" bIns="0" rtlCol="0" anchor="t">
            <a:spAutoFit/>
          </a:bodyPr>
          <a:lstStyle/>
          <a:p>
            <a:pPr algn="ctr">
              <a:lnSpc>
                <a:spcPts val="2447"/>
              </a:lnSpc>
              <a:spcBef>
                <a:spcPct val="0"/>
              </a:spcBef>
            </a:pPr>
            <a:r>
              <a:rPr lang="en-US" sz="1911">
                <a:solidFill>
                  <a:srgbClr val="000000"/>
                </a:solidFill>
                <a:latin typeface="Montserrat"/>
                <a:ea typeface="Montserrat"/>
                <a:cs typeface="Montserrat"/>
                <a:sym typeface="Montserrat"/>
              </a:rPr>
              <a:t>Many are close to </a:t>
            </a:r>
            <a:r>
              <a:rPr lang="en-US" sz="1911" b="1">
                <a:solidFill>
                  <a:srgbClr val="000000"/>
                </a:solidFill>
                <a:latin typeface="Montserrat Bold"/>
                <a:ea typeface="Montserrat Bold"/>
                <a:cs typeface="Montserrat Bold"/>
                <a:sym typeface="Montserrat Bold"/>
              </a:rPr>
              <a:t>intersections</a:t>
            </a:r>
          </a:p>
        </p:txBody>
      </p:sp>
      <p:sp>
        <p:nvSpPr>
          <p:cNvPr id="44" name="TextBox 44"/>
          <p:cNvSpPr txBox="1"/>
          <p:nvPr/>
        </p:nvSpPr>
        <p:spPr>
          <a:xfrm>
            <a:off x="12493660" y="8494961"/>
            <a:ext cx="4069881" cy="304426"/>
          </a:xfrm>
          <a:prstGeom prst="rect">
            <a:avLst/>
          </a:prstGeom>
        </p:spPr>
        <p:txBody>
          <a:bodyPr lIns="0" tIns="0" rIns="0" bIns="0" rtlCol="0" anchor="t">
            <a:spAutoFit/>
          </a:bodyPr>
          <a:lstStyle/>
          <a:p>
            <a:pPr algn="ctr">
              <a:lnSpc>
                <a:spcPts val="2447"/>
              </a:lnSpc>
              <a:spcBef>
                <a:spcPct val="0"/>
              </a:spcBef>
            </a:pPr>
            <a:r>
              <a:rPr lang="en-US" sz="1911">
                <a:solidFill>
                  <a:srgbClr val="000000"/>
                </a:solidFill>
                <a:latin typeface="Montserrat"/>
                <a:ea typeface="Montserrat"/>
                <a:cs typeface="Montserrat"/>
                <a:sym typeface="Montserrat"/>
              </a:rPr>
              <a:t>Time patterns exist in </a:t>
            </a:r>
            <a:r>
              <a:rPr lang="en-US" sz="1911" b="1">
                <a:solidFill>
                  <a:srgbClr val="000000"/>
                </a:solidFill>
                <a:latin typeface="Montserrat Bold"/>
                <a:ea typeface="Montserrat Bold"/>
                <a:cs typeface="Montserrat Bold"/>
                <a:sym typeface="Montserrat Bold"/>
              </a:rPr>
              <a:t>EDA </a:t>
            </a:r>
          </a:p>
        </p:txBody>
      </p:sp>
      <p:sp>
        <p:nvSpPr>
          <p:cNvPr id="45" name="TextBox 45"/>
          <p:cNvSpPr txBox="1"/>
          <p:nvPr/>
        </p:nvSpPr>
        <p:spPr>
          <a:xfrm>
            <a:off x="13738215" y="5967974"/>
            <a:ext cx="1499443" cy="304426"/>
          </a:xfrm>
          <a:prstGeom prst="rect">
            <a:avLst/>
          </a:prstGeom>
        </p:spPr>
        <p:txBody>
          <a:bodyPr lIns="0" tIns="0" rIns="0" bIns="0" rtlCol="0" anchor="t">
            <a:spAutoFit/>
          </a:bodyPr>
          <a:lstStyle/>
          <a:p>
            <a:pPr algn="ctr">
              <a:lnSpc>
                <a:spcPts val="2447"/>
              </a:lnSpc>
              <a:spcBef>
                <a:spcPct val="0"/>
              </a:spcBef>
            </a:pPr>
            <a:r>
              <a:rPr lang="en-US" sz="1911" b="1" dirty="0">
                <a:solidFill>
                  <a:srgbClr val="000000"/>
                </a:solidFill>
                <a:latin typeface="Montserrat Bold"/>
                <a:ea typeface="Montserrat Bold"/>
                <a:cs typeface="Montserrat Bold"/>
                <a:sym typeface="Montserrat Bold"/>
              </a:rPr>
              <a:t>EDA Lesson</a:t>
            </a:r>
          </a:p>
        </p:txBody>
      </p:sp>
      <p:sp>
        <p:nvSpPr>
          <p:cNvPr id="46" name="TextBox 46"/>
          <p:cNvSpPr txBox="1"/>
          <p:nvPr/>
        </p:nvSpPr>
        <p:spPr>
          <a:xfrm>
            <a:off x="7904088" y="5985967"/>
            <a:ext cx="1912590" cy="304426"/>
          </a:xfrm>
          <a:prstGeom prst="rect">
            <a:avLst/>
          </a:prstGeom>
        </p:spPr>
        <p:txBody>
          <a:bodyPr lIns="0" tIns="0" rIns="0" bIns="0" rtlCol="0" anchor="t">
            <a:spAutoFit/>
          </a:bodyPr>
          <a:lstStyle/>
          <a:p>
            <a:pPr algn="ctr">
              <a:lnSpc>
                <a:spcPts val="2447"/>
              </a:lnSpc>
              <a:spcBef>
                <a:spcPct val="0"/>
              </a:spcBef>
            </a:pPr>
            <a:r>
              <a:rPr lang="en-US" sz="1911" b="1">
                <a:solidFill>
                  <a:srgbClr val="000000"/>
                </a:solidFill>
                <a:latin typeface="Montserrat Bold"/>
                <a:ea typeface="Montserrat Bold"/>
                <a:cs typeface="Montserrat Bold"/>
                <a:sym typeface="Montserrat Bold"/>
              </a:rPr>
              <a:t>Quality Checks</a:t>
            </a:r>
          </a:p>
        </p:txBody>
      </p:sp>
      <p:sp>
        <p:nvSpPr>
          <p:cNvPr id="47" name="TextBox 47"/>
          <p:cNvSpPr txBox="1"/>
          <p:nvPr/>
        </p:nvSpPr>
        <p:spPr>
          <a:xfrm>
            <a:off x="2489159" y="6025531"/>
            <a:ext cx="1408575" cy="291362"/>
          </a:xfrm>
          <a:prstGeom prst="rect">
            <a:avLst/>
          </a:prstGeom>
        </p:spPr>
        <p:txBody>
          <a:bodyPr wrap="square" lIns="0" tIns="0" rIns="0" bIns="0" rtlCol="0" anchor="t">
            <a:spAutoFit/>
          </a:bodyPr>
          <a:lstStyle/>
          <a:p>
            <a:pPr algn="ctr">
              <a:lnSpc>
                <a:spcPts val="2447"/>
              </a:lnSpc>
              <a:spcBef>
                <a:spcPct val="0"/>
              </a:spcBef>
            </a:pPr>
            <a:r>
              <a:rPr lang="en-US" sz="1911" b="1" dirty="0">
                <a:solidFill>
                  <a:srgbClr val="000000"/>
                </a:solidFill>
                <a:latin typeface="Montserrat Bold"/>
                <a:ea typeface="Montserrat Bold"/>
                <a:cs typeface="Montserrat Bold"/>
                <a:sym typeface="Montserrat Bold"/>
              </a:rPr>
              <a:t>Origin</a:t>
            </a:r>
          </a:p>
        </p:txBody>
      </p:sp>
      <p:sp>
        <p:nvSpPr>
          <p:cNvPr id="48" name="TextBox 48"/>
          <p:cNvSpPr txBox="1"/>
          <p:nvPr/>
        </p:nvSpPr>
        <p:spPr>
          <a:xfrm>
            <a:off x="2315932" y="1640373"/>
            <a:ext cx="11776815" cy="307777"/>
          </a:xfrm>
          <a:prstGeom prst="rect">
            <a:avLst/>
          </a:prstGeom>
        </p:spPr>
        <p:txBody>
          <a:bodyPr wrap="square" lIns="0" tIns="0" rIns="0" bIns="0" rtlCol="0" anchor="t">
            <a:spAutoFit/>
          </a:bodyPr>
          <a:lstStyle/>
          <a:p>
            <a:pPr algn="ctr">
              <a:lnSpc>
                <a:spcPts val="2447"/>
              </a:lnSpc>
              <a:spcBef>
                <a:spcPct val="0"/>
              </a:spcBef>
            </a:pPr>
            <a:r>
              <a:rPr lang="en-US" sz="2000" b="1" dirty="0" err="1">
                <a:solidFill>
                  <a:schemeClr val="tx1">
                    <a:lumMod val="65000"/>
                    <a:lumOff val="35000"/>
                  </a:schemeClr>
                </a:solidFill>
                <a:latin typeface="Montserrat Bold"/>
                <a:ea typeface="Montserrat Bold"/>
                <a:cs typeface="Montserrat Bold"/>
                <a:sym typeface="Montserrat Bold"/>
              </a:rPr>
              <a:t>Unfallatlas</a:t>
            </a:r>
            <a:r>
              <a:rPr lang="en-US" sz="2000" b="1" dirty="0">
                <a:solidFill>
                  <a:schemeClr val="tx1">
                    <a:lumMod val="65000"/>
                    <a:lumOff val="35000"/>
                  </a:schemeClr>
                </a:solidFill>
                <a:latin typeface="Montserrat Bold"/>
                <a:ea typeface="Montserrat Bold"/>
                <a:cs typeface="Montserrat Bold"/>
                <a:sym typeface="Montserrat Bold"/>
              </a:rPr>
              <a:t> + OpenStreetMap, validated before modelling</a:t>
            </a:r>
          </a:p>
        </p:txBody>
      </p:sp>
      <p:sp>
        <p:nvSpPr>
          <p:cNvPr id="50" name="Text 8">
            <a:extLst>
              <a:ext uri="{FF2B5EF4-FFF2-40B4-BE49-F238E27FC236}">
                <a16:creationId xmlns:a16="http://schemas.microsoft.com/office/drawing/2014/main" id="{33B3578F-F063-B2EC-3CD7-99B18312E4C2}"/>
              </a:ext>
            </a:extLst>
          </p:cNvPr>
          <p:cNvSpPr/>
          <p:nvPr/>
        </p:nvSpPr>
        <p:spPr>
          <a:xfrm>
            <a:off x="17297400" y="9660379"/>
            <a:ext cx="713232" cy="329184"/>
          </a:xfrm>
          <a:prstGeom prst="rect">
            <a:avLst/>
          </a:prstGeom>
          <a:noFill/>
          <a:ln/>
        </p:spPr>
        <p:txBody>
          <a:bodyPr wrap="square" lIns="0" tIns="0" rIns="0" bIns="0" rtlCol="0" anchor="ctr"/>
          <a:lstStyle/>
          <a:p>
            <a:pPr algn="r"/>
            <a:r>
              <a:rPr lang="en-US" sz="1500" b="1" dirty="0">
                <a:solidFill>
                  <a:srgbClr val="5C6874"/>
                </a:solidFill>
              </a:rPr>
              <a:t>3</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732C-2BC6-326E-0F0D-6FBCBEB426F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7EA0A4E-A360-ABAF-3852-A9F79BAE5108}"/>
              </a:ext>
            </a:extLst>
          </p:cNvPr>
          <p:cNvSpPr txBox="1"/>
          <p:nvPr/>
        </p:nvSpPr>
        <p:spPr>
          <a:xfrm>
            <a:off x="346115" y="266700"/>
            <a:ext cx="14817685" cy="2609304"/>
          </a:xfrm>
          <a:prstGeom prst="rect">
            <a:avLst/>
          </a:prstGeom>
        </p:spPr>
        <p:txBody>
          <a:bodyPr lIns="0" tIns="0" rIns="0" bIns="0" rtlCol="0" anchor="t">
            <a:spAutoFit/>
          </a:bodyPr>
          <a:lstStyle/>
          <a:p>
            <a:r>
              <a:rPr lang="en-US" sz="6600" b="1" dirty="0">
                <a:solidFill>
                  <a:srgbClr val="002060"/>
                </a:solidFill>
                <a:latin typeface="Red Hat Display Bold" panose="020B0604020202020204" charset="0"/>
                <a:ea typeface="Aptos Display" pitchFamily="34" charset="-122"/>
                <a:cs typeface="Aptos Display" pitchFamily="34" charset="-120"/>
              </a:rPr>
              <a:t>4 · Baseline model</a:t>
            </a:r>
            <a:endParaRPr lang="en-US" sz="6600" dirty="0">
              <a:solidFill>
                <a:srgbClr val="002060"/>
              </a:solidFill>
              <a:latin typeface="Red Hat Display Bold" panose="020B0604020202020204" charset="0"/>
            </a:endParaRPr>
          </a:p>
          <a:p>
            <a:pPr algn="ctr">
              <a:lnSpc>
                <a:spcPts val="6065"/>
              </a:lnSpc>
            </a:pPr>
            <a:r>
              <a:rPr lang="en-US" sz="2000" dirty="0">
                <a:solidFill>
                  <a:srgbClr val="5C6874"/>
                </a:solidFill>
                <a:latin typeface="Montserrat Bold" panose="020B0604020202020204" charset="0"/>
              </a:rPr>
              <a:t>Historical GIS risk is the auditable product baseline</a:t>
            </a:r>
            <a:endParaRPr lang="en-US" sz="2000" dirty="0">
              <a:latin typeface="Montserrat Bold" panose="020B0604020202020204" charset="0"/>
            </a:endParaRPr>
          </a:p>
          <a:p>
            <a:pPr algn="ctr">
              <a:lnSpc>
                <a:spcPts val="6065"/>
              </a:lnSpc>
            </a:pPr>
            <a:endParaRPr lang="en-US" sz="6332" b="1" dirty="0">
              <a:solidFill>
                <a:srgbClr val="2D2261"/>
              </a:solidFill>
              <a:latin typeface="Red Hat Display Bold"/>
              <a:ea typeface="Red Hat Display Bold"/>
              <a:cs typeface="Red Hat Display Bold"/>
              <a:sym typeface="Red Hat Display Bold"/>
            </a:endParaRPr>
          </a:p>
        </p:txBody>
      </p:sp>
      <p:sp>
        <p:nvSpPr>
          <p:cNvPr id="6" name="TextBox 6">
            <a:extLst>
              <a:ext uri="{FF2B5EF4-FFF2-40B4-BE49-F238E27FC236}">
                <a16:creationId xmlns:a16="http://schemas.microsoft.com/office/drawing/2014/main" id="{691F38BC-EEAE-96E0-6854-32B09D30DF20}"/>
              </a:ext>
            </a:extLst>
          </p:cNvPr>
          <p:cNvSpPr txBox="1"/>
          <p:nvPr/>
        </p:nvSpPr>
        <p:spPr>
          <a:xfrm>
            <a:off x="2498443" y="3641812"/>
            <a:ext cx="3018068" cy="1623696"/>
          </a:xfrm>
          <a:prstGeom prst="rect">
            <a:avLst/>
          </a:prstGeom>
        </p:spPr>
        <p:txBody>
          <a:bodyPr lIns="0" tIns="0" rIns="0" bIns="0" rtlCol="0" anchor="t">
            <a:spAutoFit/>
          </a:bodyPr>
          <a:lstStyle/>
          <a:p>
            <a:pPr algn="ctr">
              <a:lnSpc>
                <a:spcPts val="6579"/>
              </a:lnSpc>
            </a:pPr>
            <a:r>
              <a:rPr lang="en-US" sz="4699" b="1">
                <a:solidFill>
                  <a:srgbClr val="FBFCFE"/>
                </a:solidFill>
                <a:latin typeface="Red Hat Display Bold"/>
                <a:ea typeface="Red Hat Display Bold"/>
                <a:cs typeface="Red Hat Display Bold"/>
                <a:sym typeface="Red Hat Display Bold"/>
              </a:rPr>
              <a:t>37,948</a:t>
            </a:r>
          </a:p>
          <a:p>
            <a:pPr algn="ctr">
              <a:lnSpc>
                <a:spcPts val="6579"/>
              </a:lnSpc>
            </a:pPr>
            <a:endParaRPr lang="en-US" sz="4699" b="1">
              <a:solidFill>
                <a:srgbClr val="FBFCFE"/>
              </a:solidFill>
              <a:latin typeface="Red Hat Display Bold"/>
              <a:ea typeface="Red Hat Display Bold"/>
              <a:cs typeface="Red Hat Display Bold"/>
              <a:sym typeface="Red Hat Display Bold"/>
            </a:endParaRPr>
          </a:p>
        </p:txBody>
      </p:sp>
      <p:grpSp>
        <p:nvGrpSpPr>
          <p:cNvPr id="7" name="Group 7">
            <a:extLst>
              <a:ext uri="{FF2B5EF4-FFF2-40B4-BE49-F238E27FC236}">
                <a16:creationId xmlns:a16="http://schemas.microsoft.com/office/drawing/2014/main" id="{E9EAECA0-B02B-2470-885E-4AE9B94D8222}"/>
              </a:ext>
            </a:extLst>
          </p:cNvPr>
          <p:cNvGrpSpPr/>
          <p:nvPr/>
        </p:nvGrpSpPr>
        <p:grpSpPr>
          <a:xfrm>
            <a:off x="1371600" y="3782176"/>
            <a:ext cx="4657911" cy="4166235"/>
            <a:chOff x="0" y="0"/>
            <a:chExt cx="1080692" cy="973832"/>
          </a:xfrm>
        </p:grpSpPr>
        <p:sp>
          <p:nvSpPr>
            <p:cNvPr id="8" name="Freeform 8">
              <a:extLst>
                <a:ext uri="{FF2B5EF4-FFF2-40B4-BE49-F238E27FC236}">
                  <a16:creationId xmlns:a16="http://schemas.microsoft.com/office/drawing/2014/main" id="{1FAA34C8-2881-7349-BD9B-40195BE0AFB7}"/>
                </a:ext>
              </a:extLst>
            </p:cNvPr>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sp>
        <p:sp>
          <p:nvSpPr>
            <p:cNvPr id="9" name="TextBox 9">
              <a:extLst>
                <a:ext uri="{FF2B5EF4-FFF2-40B4-BE49-F238E27FC236}">
                  <a16:creationId xmlns:a16="http://schemas.microsoft.com/office/drawing/2014/main" id="{5B29FF66-A9C9-B587-0BC9-A22E956B7649}"/>
                </a:ext>
              </a:extLst>
            </p:cNvPr>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grpSp>
        <p:nvGrpSpPr>
          <p:cNvPr id="10" name="Group 10">
            <a:extLst>
              <a:ext uri="{FF2B5EF4-FFF2-40B4-BE49-F238E27FC236}">
                <a16:creationId xmlns:a16="http://schemas.microsoft.com/office/drawing/2014/main" id="{E98E03C0-8BAD-D547-A1FE-2B1720B7995A}"/>
              </a:ext>
            </a:extLst>
          </p:cNvPr>
          <p:cNvGrpSpPr/>
          <p:nvPr/>
        </p:nvGrpSpPr>
        <p:grpSpPr>
          <a:xfrm>
            <a:off x="12714204" y="2615915"/>
            <a:ext cx="4202196" cy="2490388"/>
            <a:chOff x="-46472" y="-47625"/>
            <a:chExt cx="968082" cy="552833"/>
          </a:xfrm>
        </p:grpSpPr>
        <p:sp>
          <p:nvSpPr>
            <p:cNvPr id="11" name="Freeform 11">
              <a:extLst>
                <a:ext uri="{FF2B5EF4-FFF2-40B4-BE49-F238E27FC236}">
                  <a16:creationId xmlns:a16="http://schemas.microsoft.com/office/drawing/2014/main" id="{7D2532ED-5336-82C6-C30D-C4D53CB44ADC}"/>
                </a:ext>
              </a:extLst>
            </p:cNvPr>
            <p:cNvSpPr/>
            <p:nvPr/>
          </p:nvSpPr>
          <p:spPr>
            <a:xfrm>
              <a:off x="-46472" y="13536"/>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txBody>
            <a:bodyPr/>
            <a:lstStyle/>
            <a:p>
              <a:endParaRPr lang="en-US" dirty="0"/>
            </a:p>
          </p:txBody>
        </p:sp>
        <p:sp>
          <p:nvSpPr>
            <p:cNvPr id="12" name="TextBox 12">
              <a:extLst>
                <a:ext uri="{FF2B5EF4-FFF2-40B4-BE49-F238E27FC236}">
                  <a16:creationId xmlns:a16="http://schemas.microsoft.com/office/drawing/2014/main" id="{FEA73CA3-44CF-25A6-9E3F-E3BEFCDDC2F7}"/>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13" name="TextBox 13">
            <a:extLst>
              <a:ext uri="{FF2B5EF4-FFF2-40B4-BE49-F238E27FC236}">
                <a16:creationId xmlns:a16="http://schemas.microsoft.com/office/drawing/2014/main" id="{3B56740F-837D-CA46-77BA-421ED080E8C5}"/>
              </a:ext>
            </a:extLst>
          </p:cNvPr>
          <p:cNvSpPr txBox="1"/>
          <p:nvPr/>
        </p:nvSpPr>
        <p:spPr>
          <a:xfrm>
            <a:off x="6300157" y="3080385"/>
            <a:ext cx="2734329" cy="2063115"/>
          </a:xfrm>
          <a:prstGeom prst="rect">
            <a:avLst/>
          </a:prstGeom>
        </p:spPr>
        <p:txBody>
          <a:bodyPr lIns="0" tIns="0" rIns="0" bIns="0" rtlCol="0" anchor="t">
            <a:spAutoFit/>
          </a:bodyPr>
          <a:lstStyle/>
          <a:p>
            <a:pPr algn="ctr">
              <a:lnSpc>
                <a:spcPts val="3359"/>
              </a:lnSpc>
            </a:pPr>
            <a:endParaRPr dirty="0"/>
          </a:p>
          <a:p>
            <a:pPr algn="ctr">
              <a:lnSpc>
                <a:spcPts val="6580"/>
              </a:lnSpc>
            </a:pPr>
            <a:r>
              <a:rPr lang="en-US" sz="4700" b="1" dirty="0">
                <a:solidFill>
                  <a:srgbClr val="FBFCFE"/>
                </a:solidFill>
                <a:latin typeface="Red Hat Display Bold"/>
                <a:ea typeface="Red Hat Display Bold"/>
                <a:cs typeface="Red Hat Display Bold"/>
                <a:sym typeface="Red Hat Display Bold"/>
              </a:rPr>
              <a:t>37,896</a:t>
            </a: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p:txBody>
      </p:sp>
      <p:grpSp>
        <p:nvGrpSpPr>
          <p:cNvPr id="14" name="Group 14">
            <a:extLst>
              <a:ext uri="{FF2B5EF4-FFF2-40B4-BE49-F238E27FC236}">
                <a16:creationId xmlns:a16="http://schemas.microsoft.com/office/drawing/2014/main" id="{5942E75F-E140-A2E8-FE8D-F06CEEECCE26}"/>
              </a:ext>
            </a:extLst>
          </p:cNvPr>
          <p:cNvGrpSpPr/>
          <p:nvPr/>
        </p:nvGrpSpPr>
        <p:grpSpPr>
          <a:xfrm>
            <a:off x="6621991" y="3795134"/>
            <a:ext cx="4808009" cy="4167766"/>
            <a:chOff x="0" y="0"/>
            <a:chExt cx="1080692" cy="973832"/>
          </a:xfrm>
        </p:grpSpPr>
        <p:sp>
          <p:nvSpPr>
            <p:cNvPr id="15" name="Freeform 15">
              <a:extLst>
                <a:ext uri="{FF2B5EF4-FFF2-40B4-BE49-F238E27FC236}">
                  <a16:creationId xmlns:a16="http://schemas.microsoft.com/office/drawing/2014/main" id="{E06653A3-4FF0-44F3-7F89-67127CD22617}"/>
                </a:ext>
              </a:extLst>
            </p:cNvPr>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txBody>
            <a:bodyPr/>
            <a:lstStyle/>
            <a:p>
              <a:endParaRPr lang="en-US" dirty="0"/>
            </a:p>
          </p:txBody>
        </p:sp>
        <p:sp>
          <p:nvSpPr>
            <p:cNvPr id="16" name="TextBox 16">
              <a:extLst>
                <a:ext uri="{FF2B5EF4-FFF2-40B4-BE49-F238E27FC236}">
                  <a16:creationId xmlns:a16="http://schemas.microsoft.com/office/drawing/2014/main" id="{750C5D0F-D786-C729-89FD-96148ABA704B}"/>
                </a:ext>
              </a:extLst>
            </p:cNvPr>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grpSp>
        <p:nvGrpSpPr>
          <p:cNvPr id="17" name="Group 17">
            <a:extLst>
              <a:ext uri="{FF2B5EF4-FFF2-40B4-BE49-F238E27FC236}">
                <a16:creationId xmlns:a16="http://schemas.microsoft.com/office/drawing/2014/main" id="{0313E4BC-3075-C48C-73AA-5148B66ACE19}"/>
              </a:ext>
            </a:extLst>
          </p:cNvPr>
          <p:cNvGrpSpPr/>
          <p:nvPr/>
        </p:nvGrpSpPr>
        <p:grpSpPr>
          <a:xfrm>
            <a:off x="12665142" y="5220825"/>
            <a:ext cx="4038600" cy="2270463"/>
            <a:chOff x="0" y="0"/>
            <a:chExt cx="921610" cy="491672"/>
          </a:xfrm>
        </p:grpSpPr>
        <p:sp>
          <p:nvSpPr>
            <p:cNvPr id="18" name="Freeform 18">
              <a:extLst>
                <a:ext uri="{FF2B5EF4-FFF2-40B4-BE49-F238E27FC236}">
                  <a16:creationId xmlns:a16="http://schemas.microsoft.com/office/drawing/2014/main" id="{F2F7087A-73FA-8579-7C33-E893BBCBC693}"/>
                </a:ext>
              </a:extLst>
            </p:cNvPr>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19" name="TextBox 19">
              <a:extLst>
                <a:ext uri="{FF2B5EF4-FFF2-40B4-BE49-F238E27FC236}">
                  <a16:creationId xmlns:a16="http://schemas.microsoft.com/office/drawing/2014/main" id="{F637C38C-321B-717B-6ACB-3C1C7DE34F7A}"/>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grpSp>
        <p:nvGrpSpPr>
          <p:cNvPr id="24" name="Group 24">
            <a:extLst>
              <a:ext uri="{FF2B5EF4-FFF2-40B4-BE49-F238E27FC236}">
                <a16:creationId xmlns:a16="http://schemas.microsoft.com/office/drawing/2014/main" id="{A8948325-88C5-B01D-F250-0858749E0382}"/>
              </a:ext>
            </a:extLst>
          </p:cNvPr>
          <p:cNvGrpSpPr/>
          <p:nvPr/>
        </p:nvGrpSpPr>
        <p:grpSpPr>
          <a:xfrm>
            <a:off x="12714204" y="7594952"/>
            <a:ext cx="3989537" cy="2307258"/>
            <a:chOff x="0" y="0"/>
            <a:chExt cx="921610" cy="491672"/>
          </a:xfrm>
        </p:grpSpPr>
        <p:sp>
          <p:nvSpPr>
            <p:cNvPr id="25" name="Freeform 25">
              <a:extLst>
                <a:ext uri="{FF2B5EF4-FFF2-40B4-BE49-F238E27FC236}">
                  <a16:creationId xmlns:a16="http://schemas.microsoft.com/office/drawing/2014/main" id="{1950CB92-4A92-0F7F-6FDD-491C33E9FC80}"/>
                </a:ext>
              </a:extLst>
            </p:cNvPr>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txBody>
            <a:bodyPr/>
            <a:lstStyle/>
            <a:p>
              <a:endParaRPr lang="en-US" dirty="0"/>
            </a:p>
          </p:txBody>
        </p:sp>
        <p:sp>
          <p:nvSpPr>
            <p:cNvPr id="26" name="TextBox 26">
              <a:extLst>
                <a:ext uri="{FF2B5EF4-FFF2-40B4-BE49-F238E27FC236}">
                  <a16:creationId xmlns:a16="http://schemas.microsoft.com/office/drawing/2014/main" id="{4FF02A34-57D4-ADCB-C8EF-86AD60469363}"/>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50" name="TextBox 49">
            <a:extLst>
              <a:ext uri="{FF2B5EF4-FFF2-40B4-BE49-F238E27FC236}">
                <a16:creationId xmlns:a16="http://schemas.microsoft.com/office/drawing/2014/main" id="{6DFB62F1-397D-9E3B-02D6-C992A1A6B1E6}"/>
              </a:ext>
            </a:extLst>
          </p:cNvPr>
          <p:cNvSpPr txBox="1"/>
          <p:nvPr/>
        </p:nvSpPr>
        <p:spPr>
          <a:xfrm>
            <a:off x="1491016" y="4097436"/>
            <a:ext cx="4386095" cy="3785652"/>
          </a:xfrm>
          <a:prstGeom prst="rect">
            <a:avLst/>
          </a:prstGeom>
          <a:noFill/>
        </p:spPr>
        <p:txBody>
          <a:bodyPr wrap="square">
            <a:spAutoFit/>
          </a:bodyPr>
          <a:lstStyle/>
          <a:p>
            <a:pPr marL="0" indent="0" algn="l">
              <a:buNone/>
            </a:pPr>
            <a:r>
              <a:rPr lang="en-US" sz="2000" dirty="0">
                <a:solidFill>
                  <a:srgbClr val="12161A"/>
                </a:solidFill>
                <a:latin typeface="Montserrat Bold" panose="020B0604020202020204" charset="0"/>
                <a:ea typeface="Aptos" pitchFamily="34" charset="-122"/>
                <a:cs typeface="Aptos" pitchFamily="34" charset="-120"/>
              </a:rPr>
              <a:t>Selected baseline</a:t>
            </a:r>
            <a:endParaRPr lang="en-US" sz="2000" dirty="0">
              <a:latin typeface="Montserrat Bold" panose="020B0604020202020204" charset="0"/>
            </a:endParaRPr>
          </a:p>
          <a:p>
            <a:pPr marL="0" indent="0" algn="l">
              <a:buNone/>
            </a:pPr>
            <a:endParaRPr lang="en-US" sz="2000" dirty="0">
              <a:latin typeface="Montserrat Bold" panose="020B0604020202020204" charset="0"/>
            </a:endParaRPr>
          </a:p>
          <a:p>
            <a:pPr marL="0" indent="0" algn="l">
              <a:buNone/>
            </a:pPr>
            <a:r>
              <a:rPr lang="en-US" sz="2000" dirty="0">
                <a:solidFill>
                  <a:srgbClr val="12161A"/>
                </a:solidFill>
                <a:latin typeface="Montserrat Bold" panose="020B0604020202020204" charset="0"/>
                <a:ea typeface="Aptos" pitchFamily="34" charset="-122"/>
                <a:cs typeface="Aptos" pitchFamily="34" charset="-120"/>
              </a:rPr>
              <a:t>Historical GIS-risk route</a:t>
            </a:r>
            <a:endParaRPr lang="en-US" sz="2000" dirty="0">
              <a:latin typeface="Montserrat Bold" panose="020B0604020202020204" charset="0"/>
            </a:endParaRPr>
          </a:p>
          <a:p>
            <a:pPr marL="0" indent="0" algn="l">
              <a:buNone/>
            </a:pPr>
            <a:endParaRPr lang="en-US" sz="2000" dirty="0">
              <a:latin typeface="Montserrat Bold" panose="020B0604020202020204" charset="0"/>
            </a:endParaRPr>
          </a:p>
          <a:p>
            <a:pPr marL="0" indent="0" algn="l">
              <a:buNone/>
            </a:pPr>
            <a:r>
              <a:rPr lang="en-US" sz="2000" dirty="0">
                <a:solidFill>
                  <a:srgbClr val="12161A"/>
                </a:solidFill>
                <a:latin typeface="Montserrat Bold" panose="020B0604020202020204" charset="0"/>
                <a:ea typeface="Aptos" pitchFamily="34" charset="-122"/>
                <a:cs typeface="Aptos" pitchFamily="34" charset="-120"/>
              </a:rPr>
              <a:t>Why this baseline?</a:t>
            </a:r>
            <a:endParaRPr lang="en-US" sz="2000" dirty="0">
              <a:latin typeface="Montserrat Bold" panose="020B0604020202020204" charset="0"/>
            </a:endParaRPr>
          </a:p>
          <a:p>
            <a:pPr marL="0" indent="0" algn="l">
              <a:buNone/>
            </a:pPr>
            <a:r>
              <a:rPr lang="en-US" sz="2000" dirty="0">
                <a:solidFill>
                  <a:srgbClr val="12161A"/>
                </a:solidFill>
                <a:latin typeface="Montserrat "/>
                <a:ea typeface="Aptos" pitchFamily="34" charset="-122"/>
                <a:cs typeface="Aptos" pitchFamily="34" charset="-120"/>
              </a:rPr>
              <a:t>• transparent</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 easy to explain</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 works without label leakage</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 directly maps past crashes to street segments</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 gives a user-visible route comparison</a:t>
            </a:r>
            <a:endParaRPr lang="en-US" sz="2000" dirty="0">
              <a:latin typeface="Montserrat "/>
            </a:endParaRPr>
          </a:p>
        </p:txBody>
      </p:sp>
      <p:sp>
        <p:nvSpPr>
          <p:cNvPr id="52" name="TextBox 51">
            <a:extLst>
              <a:ext uri="{FF2B5EF4-FFF2-40B4-BE49-F238E27FC236}">
                <a16:creationId xmlns:a16="http://schemas.microsoft.com/office/drawing/2014/main" id="{6C1A9C07-1ADC-D3CE-A742-5A2AA8AFE844}"/>
              </a:ext>
            </a:extLst>
          </p:cNvPr>
          <p:cNvSpPr txBox="1"/>
          <p:nvPr/>
        </p:nvSpPr>
        <p:spPr>
          <a:xfrm>
            <a:off x="6747790" y="4277261"/>
            <a:ext cx="4082322" cy="3170099"/>
          </a:xfrm>
          <a:prstGeom prst="rect">
            <a:avLst/>
          </a:prstGeom>
          <a:noFill/>
        </p:spPr>
        <p:txBody>
          <a:bodyPr wrap="square">
            <a:spAutoFit/>
          </a:bodyPr>
          <a:lstStyle/>
          <a:p>
            <a:pPr marL="0" indent="0" algn="l">
              <a:buNone/>
            </a:pPr>
            <a:r>
              <a:rPr lang="en-US" sz="2000" dirty="0">
                <a:solidFill>
                  <a:srgbClr val="12161A"/>
                </a:solidFill>
                <a:latin typeface="Montserrat Bold" panose="020B0604020202020204" charset="0"/>
                <a:ea typeface="Aptos" pitchFamily="34" charset="-122"/>
                <a:cs typeface="Aptos" pitchFamily="34" charset="-120"/>
              </a:rPr>
              <a:t>How it works</a:t>
            </a:r>
            <a:endParaRPr lang="en-US" sz="2000" dirty="0">
              <a:latin typeface="Montserrat Bold" panose="020B0604020202020204" charset="0"/>
            </a:endParaRPr>
          </a:p>
          <a:p>
            <a:pPr marL="0" indent="0" algn="l">
              <a:buNone/>
            </a:pP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1. Snap crash points to OSM edges</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2. Weight severity</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3. Aggregate by undirected street segment</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4. Add junction risk</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5. Penalize high-risk edges in routing cost</a:t>
            </a:r>
            <a:endParaRPr lang="en-US" sz="2000" dirty="0">
              <a:latin typeface="Montserrat "/>
            </a:endParaRPr>
          </a:p>
        </p:txBody>
      </p:sp>
      <p:sp>
        <p:nvSpPr>
          <p:cNvPr id="54" name="TextBox 53">
            <a:extLst>
              <a:ext uri="{FF2B5EF4-FFF2-40B4-BE49-F238E27FC236}">
                <a16:creationId xmlns:a16="http://schemas.microsoft.com/office/drawing/2014/main" id="{FB8512DA-0BAE-21F5-9880-D0B33DA6EA63}"/>
              </a:ext>
            </a:extLst>
          </p:cNvPr>
          <p:cNvSpPr txBox="1"/>
          <p:nvPr/>
        </p:nvSpPr>
        <p:spPr>
          <a:xfrm>
            <a:off x="12665142" y="5351843"/>
            <a:ext cx="3946457" cy="1938992"/>
          </a:xfrm>
          <a:prstGeom prst="rect">
            <a:avLst/>
          </a:prstGeom>
          <a:noFill/>
        </p:spPr>
        <p:txBody>
          <a:bodyPr wrap="square">
            <a:spAutoFit/>
          </a:bodyPr>
          <a:lstStyle/>
          <a:p>
            <a:pPr marL="0" indent="0" algn="ctr">
              <a:buNone/>
            </a:pPr>
            <a:r>
              <a:rPr lang="en-US" sz="2000" dirty="0">
                <a:solidFill>
                  <a:srgbClr val="12161A"/>
                </a:solidFill>
                <a:latin typeface="Montserrat Bold" panose="020B0604020202020204" charset="0"/>
                <a:ea typeface="Aptos" pitchFamily="34" charset="-122"/>
                <a:cs typeface="Aptos" pitchFamily="34" charset="-120"/>
              </a:rPr>
              <a:t>Forward validated</a:t>
            </a:r>
            <a:endParaRPr lang="en-US" sz="2000" dirty="0">
              <a:latin typeface="Montserrat Bold" panose="020B0604020202020204" charset="0"/>
            </a:endParaRPr>
          </a:p>
          <a:p>
            <a:pPr marL="0" indent="0" algn="ctr">
              <a:buNone/>
            </a:pPr>
            <a:r>
              <a:rPr lang="en-US" sz="2000" dirty="0">
                <a:solidFill>
                  <a:srgbClr val="12161A"/>
                </a:solidFill>
                <a:latin typeface="Montserrat Bold" panose="020B0604020202020204" charset="0"/>
                <a:ea typeface="Aptos" pitchFamily="34" charset="-122"/>
                <a:cs typeface="Aptos" pitchFamily="34" charset="-120"/>
              </a:rPr>
              <a:t>Built on 2018–2023, tested on 2024–25: the riskiest 22% of network length contains 55% of future crashes — 2.56× lift over random.</a:t>
            </a:r>
            <a:endParaRPr lang="en-US" sz="2000" dirty="0">
              <a:latin typeface="Montserrat Bold" panose="020B0604020202020204" charset="0"/>
            </a:endParaRPr>
          </a:p>
        </p:txBody>
      </p:sp>
      <p:sp>
        <p:nvSpPr>
          <p:cNvPr id="56" name="TextBox 55">
            <a:extLst>
              <a:ext uri="{FF2B5EF4-FFF2-40B4-BE49-F238E27FC236}">
                <a16:creationId xmlns:a16="http://schemas.microsoft.com/office/drawing/2014/main" id="{6A49D5CD-8E4A-17D5-C783-0569871E040C}"/>
              </a:ext>
            </a:extLst>
          </p:cNvPr>
          <p:cNvSpPr txBox="1"/>
          <p:nvPr/>
        </p:nvSpPr>
        <p:spPr>
          <a:xfrm>
            <a:off x="12665142" y="3160764"/>
            <a:ext cx="4038599" cy="1323439"/>
          </a:xfrm>
          <a:prstGeom prst="rect">
            <a:avLst/>
          </a:prstGeom>
          <a:noFill/>
        </p:spPr>
        <p:txBody>
          <a:bodyPr wrap="square">
            <a:spAutoFit/>
          </a:bodyPr>
          <a:lstStyle/>
          <a:p>
            <a:pPr marL="0" indent="0" algn="ctr">
              <a:buNone/>
            </a:pPr>
            <a:r>
              <a:rPr lang="en-US" sz="2000" dirty="0">
                <a:latin typeface="Montserrat Bold" panose="00000800000000000000" charset="0"/>
                <a:ea typeface="Aptos" pitchFamily="34" charset="-122"/>
                <a:cs typeface="Aptos" pitchFamily="34" charset="-120"/>
              </a:rPr>
              <a:t>routing cost</a:t>
            </a:r>
            <a:endParaRPr lang="en-US" sz="2000" dirty="0">
              <a:latin typeface="Montserrat Bold" panose="00000800000000000000" charset="0"/>
            </a:endParaRPr>
          </a:p>
          <a:p>
            <a:pPr marL="0" indent="0" algn="ctr">
              <a:buNone/>
            </a:pPr>
            <a:r>
              <a:rPr lang="en-US" sz="2000" dirty="0">
                <a:latin typeface="Montserrat Bold" panose="00000800000000000000" charset="0"/>
                <a:ea typeface="Aptos" pitchFamily="34" charset="-122"/>
                <a:cs typeface="Aptos" pitchFamily="34" charset="-120"/>
              </a:rPr>
              <a:t>length × (1 + safety preference × risk) + junction penalty</a:t>
            </a:r>
            <a:endParaRPr lang="en-US" sz="2000" dirty="0">
              <a:latin typeface="Montserrat Bold" panose="00000800000000000000" charset="0"/>
            </a:endParaRPr>
          </a:p>
        </p:txBody>
      </p:sp>
      <p:sp>
        <p:nvSpPr>
          <p:cNvPr id="58" name="TextBox 57">
            <a:extLst>
              <a:ext uri="{FF2B5EF4-FFF2-40B4-BE49-F238E27FC236}">
                <a16:creationId xmlns:a16="http://schemas.microsoft.com/office/drawing/2014/main" id="{5EB48DAA-009E-BFEA-7EA6-46621D7534FA}"/>
              </a:ext>
            </a:extLst>
          </p:cNvPr>
          <p:cNvSpPr txBox="1"/>
          <p:nvPr/>
        </p:nvSpPr>
        <p:spPr>
          <a:xfrm>
            <a:off x="13046141" y="7776508"/>
            <a:ext cx="3336859" cy="1938992"/>
          </a:xfrm>
          <a:prstGeom prst="rect">
            <a:avLst/>
          </a:prstGeom>
          <a:noFill/>
        </p:spPr>
        <p:txBody>
          <a:bodyPr wrap="square">
            <a:spAutoFit/>
          </a:bodyPr>
          <a:lstStyle/>
          <a:p>
            <a:pPr marL="0" indent="0" algn="ctr">
              <a:buNone/>
            </a:pPr>
            <a:r>
              <a:rPr lang="en-US" sz="2000" dirty="0">
                <a:solidFill>
                  <a:srgbClr val="12161A"/>
                </a:solidFill>
                <a:latin typeface="Montserrat Bold" panose="00000800000000000000" charset="0"/>
                <a:ea typeface="Aptos" pitchFamily="34" charset="-122"/>
                <a:cs typeface="Aptos" pitchFamily="34" charset="-120"/>
              </a:rPr>
              <a:t>Product output</a:t>
            </a:r>
            <a:endParaRPr lang="en-US" sz="2000" dirty="0">
              <a:latin typeface="Montserrat Bold" panose="00000800000000000000" charset="0"/>
            </a:endParaRPr>
          </a:p>
          <a:p>
            <a:pPr marL="0" indent="0" algn="ctr">
              <a:buNone/>
            </a:pPr>
            <a:r>
              <a:rPr lang="en-US" sz="2000" dirty="0">
                <a:solidFill>
                  <a:srgbClr val="12161A"/>
                </a:solidFill>
                <a:latin typeface="Montserrat Bold" panose="00000800000000000000" charset="0"/>
                <a:ea typeface="Aptos" pitchFamily="34" charset="-122"/>
                <a:cs typeface="Aptos" pitchFamily="34" charset="-120"/>
              </a:rPr>
              <a:t>59% lower risk exposure for a 0.89 km detour — not “the objectively safest route”.</a:t>
            </a:r>
            <a:endParaRPr lang="en-US" sz="2000" dirty="0">
              <a:latin typeface="Montserrat Bold" panose="00000800000000000000" charset="0"/>
            </a:endParaRPr>
          </a:p>
        </p:txBody>
      </p:sp>
      <p:sp>
        <p:nvSpPr>
          <p:cNvPr id="4" name="Text 8">
            <a:extLst>
              <a:ext uri="{FF2B5EF4-FFF2-40B4-BE49-F238E27FC236}">
                <a16:creationId xmlns:a16="http://schemas.microsoft.com/office/drawing/2014/main" id="{B1A0472B-C6DF-F66F-0F78-FFB2E6ABC1EB}"/>
              </a:ext>
            </a:extLst>
          </p:cNvPr>
          <p:cNvSpPr/>
          <p:nvPr/>
        </p:nvSpPr>
        <p:spPr>
          <a:xfrm>
            <a:off x="17274713" y="9658350"/>
            <a:ext cx="713232" cy="329184"/>
          </a:xfrm>
          <a:prstGeom prst="rect">
            <a:avLst/>
          </a:prstGeom>
          <a:noFill/>
          <a:ln/>
        </p:spPr>
        <p:txBody>
          <a:bodyPr wrap="square" lIns="0" tIns="0" rIns="0" bIns="0" rtlCol="0" anchor="ctr"/>
          <a:lstStyle/>
          <a:p>
            <a:pPr algn="r"/>
            <a:r>
              <a:rPr lang="en-US" sz="1500" b="1" dirty="0">
                <a:solidFill>
                  <a:srgbClr val="5C6874"/>
                </a:solidFill>
              </a:rPr>
              <a:t>4</a:t>
            </a:r>
            <a:endParaRPr lang="en-US" sz="1500" dirty="0"/>
          </a:p>
        </p:txBody>
      </p:sp>
    </p:spTree>
    <p:extLst>
      <p:ext uri="{BB962C8B-B14F-4D97-AF65-F5344CB8AC3E}">
        <p14:creationId xmlns:p14="http://schemas.microsoft.com/office/powerpoint/2010/main" val="177312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59D5-1106-10BD-EAB7-A612947AE4B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3768390-0471-E281-8E38-60E142AA8D26}"/>
              </a:ext>
            </a:extLst>
          </p:cNvPr>
          <p:cNvSpPr txBox="1"/>
          <p:nvPr/>
        </p:nvSpPr>
        <p:spPr>
          <a:xfrm>
            <a:off x="346115" y="266700"/>
            <a:ext cx="14817685" cy="2134815"/>
          </a:xfrm>
          <a:prstGeom prst="rect">
            <a:avLst/>
          </a:prstGeom>
        </p:spPr>
        <p:txBody>
          <a:bodyPr lIns="0" tIns="0" rIns="0" bIns="0" rtlCol="0" anchor="t">
            <a:spAutoFit/>
          </a:bodyPr>
          <a:lstStyle/>
          <a:p>
            <a:r>
              <a:rPr lang="en-US" sz="6600" b="1" dirty="0">
                <a:solidFill>
                  <a:schemeClr val="tx2">
                    <a:lumMod val="50000"/>
                  </a:schemeClr>
                </a:solidFill>
                <a:latin typeface="Red Hat Display Bold" panose="020B0604020202020204" charset="0"/>
                <a:ea typeface="Aptos Display" pitchFamily="34" charset="-122"/>
                <a:cs typeface="Aptos Display" pitchFamily="34" charset="-120"/>
              </a:rPr>
              <a:t>5 · Models and leakage audit</a:t>
            </a:r>
            <a:endParaRPr lang="en-US" sz="6600" dirty="0">
              <a:solidFill>
                <a:schemeClr val="tx2">
                  <a:lumMod val="50000"/>
                </a:schemeClr>
              </a:solidFill>
              <a:latin typeface="Red Hat Display Bold" panose="020B0604020202020204" charset="0"/>
            </a:endParaRPr>
          </a:p>
          <a:p>
            <a:pPr algn="ctr"/>
            <a:r>
              <a:rPr lang="en-US" sz="2000" dirty="0">
                <a:solidFill>
                  <a:srgbClr val="5C6874"/>
                </a:solidFill>
                <a:latin typeface="Montserrat Bold" panose="00000800000000000000" charset="0"/>
              </a:rPr>
              <a:t>A better product came from diagnosing the too-good model</a:t>
            </a:r>
            <a:endParaRPr lang="en-US" sz="2000" dirty="0">
              <a:latin typeface="Montserrat Bold" panose="00000800000000000000" charset="0"/>
            </a:endParaRPr>
          </a:p>
          <a:p>
            <a:pPr algn="ctr">
              <a:lnSpc>
                <a:spcPts val="6065"/>
              </a:lnSpc>
            </a:pPr>
            <a:endParaRPr lang="en-US" sz="6332" b="1" dirty="0">
              <a:solidFill>
                <a:srgbClr val="2D2261"/>
              </a:solidFill>
              <a:latin typeface="Red Hat Display Bold"/>
              <a:ea typeface="Red Hat Display Bold"/>
              <a:cs typeface="Red Hat Display Bold"/>
              <a:sym typeface="Red Hat Display Bold"/>
            </a:endParaRPr>
          </a:p>
        </p:txBody>
      </p:sp>
      <p:grpSp>
        <p:nvGrpSpPr>
          <p:cNvPr id="10" name="Group 10">
            <a:extLst>
              <a:ext uri="{FF2B5EF4-FFF2-40B4-BE49-F238E27FC236}">
                <a16:creationId xmlns:a16="http://schemas.microsoft.com/office/drawing/2014/main" id="{1D7FAF33-FC73-2672-1BFC-5494D3EAA814}"/>
              </a:ext>
            </a:extLst>
          </p:cNvPr>
          <p:cNvGrpSpPr/>
          <p:nvPr/>
        </p:nvGrpSpPr>
        <p:grpSpPr>
          <a:xfrm>
            <a:off x="838200" y="6667500"/>
            <a:ext cx="4724400" cy="2743200"/>
            <a:chOff x="-46472" y="-47625"/>
            <a:chExt cx="968082" cy="552833"/>
          </a:xfrm>
        </p:grpSpPr>
        <p:sp>
          <p:nvSpPr>
            <p:cNvPr id="11" name="Freeform 11">
              <a:extLst>
                <a:ext uri="{FF2B5EF4-FFF2-40B4-BE49-F238E27FC236}">
                  <a16:creationId xmlns:a16="http://schemas.microsoft.com/office/drawing/2014/main" id="{DAFB2710-A8B8-41C0-74EE-FB14833F9013}"/>
                </a:ext>
              </a:extLst>
            </p:cNvPr>
            <p:cNvSpPr/>
            <p:nvPr/>
          </p:nvSpPr>
          <p:spPr>
            <a:xfrm>
              <a:off x="-46472" y="13536"/>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txBody>
            <a:bodyPr/>
            <a:lstStyle/>
            <a:p>
              <a:endParaRPr lang="en-US" dirty="0"/>
            </a:p>
          </p:txBody>
        </p:sp>
        <p:sp>
          <p:nvSpPr>
            <p:cNvPr id="12" name="TextBox 12">
              <a:extLst>
                <a:ext uri="{FF2B5EF4-FFF2-40B4-BE49-F238E27FC236}">
                  <a16:creationId xmlns:a16="http://schemas.microsoft.com/office/drawing/2014/main" id="{A77CC961-E2E6-D8E3-FA50-C77EF37F84E2}"/>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grpSp>
        <p:nvGrpSpPr>
          <p:cNvPr id="17" name="Group 17">
            <a:extLst>
              <a:ext uri="{FF2B5EF4-FFF2-40B4-BE49-F238E27FC236}">
                <a16:creationId xmlns:a16="http://schemas.microsoft.com/office/drawing/2014/main" id="{B9D2D001-DFC5-6794-C0F0-A1C52D5D5ECC}"/>
              </a:ext>
            </a:extLst>
          </p:cNvPr>
          <p:cNvGrpSpPr/>
          <p:nvPr/>
        </p:nvGrpSpPr>
        <p:grpSpPr>
          <a:xfrm>
            <a:off x="6096000" y="6947779"/>
            <a:ext cx="4191000" cy="2530747"/>
            <a:chOff x="0" y="0"/>
            <a:chExt cx="921610" cy="491672"/>
          </a:xfrm>
        </p:grpSpPr>
        <p:sp>
          <p:nvSpPr>
            <p:cNvPr id="18" name="Freeform 18">
              <a:extLst>
                <a:ext uri="{FF2B5EF4-FFF2-40B4-BE49-F238E27FC236}">
                  <a16:creationId xmlns:a16="http://schemas.microsoft.com/office/drawing/2014/main" id="{6A1A355D-A928-3202-D6FC-8DB1CEDBBFB7}"/>
                </a:ext>
              </a:extLst>
            </p:cNvPr>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id="19" name="TextBox 19">
              <a:extLst>
                <a:ext uri="{FF2B5EF4-FFF2-40B4-BE49-F238E27FC236}">
                  <a16:creationId xmlns:a16="http://schemas.microsoft.com/office/drawing/2014/main" id="{D24C4A43-BDE8-9312-6639-ED1B4F8767DF}"/>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grpSp>
        <p:nvGrpSpPr>
          <p:cNvPr id="24" name="Group 24">
            <a:extLst>
              <a:ext uri="{FF2B5EF4-FFF2-40B4-BE49-F238E27FC236}">
                <a16:creationId xmlns:a16="http://schemas.microsoft.com/office/drawing/2014/main" id="{47A91930-9257-04EE-7822-254BB44E0E85}"/>
              </a:ext>
            </a:extLst>
          </p:cNvPr>
          <p:cNvGrpSpPr/>
          <p:nvPr/>
        </p:nvGrpSpPr>
        <p:grpSpPr>
          <a:xfrm>
            <a:off x="11277600" y="6947779"/>
            <a:ext cx="4191000" cy="2594926"/>
            <a:chOff x="0" y="0"/>
            <a:chExt cx="921610" cy="491672"/>
          </a:xfrm>
        </p:grpSpPr>
        <p:sp>
          <p:nvSpPr>
            <p:cNvPr id="25" name="Freeform 25">
              <a:extLst>
                <a:ext uri="{FF2B5EF4-FFF2-40B4-BE49-F238E27FC236}">
                  <a16:creationId xmlns:a16="http://schemas.microsoft.com/office/drawing/2014/main" id="{6EA750A8-CB3F-C108-410A-7C10F9DCBB08}"/>
                </a:ext>
              </a:extLst>
            </p:cNvPr>
            <p:cNvSpPr/>
            <p:nvPr/>
          </p:nvSpPr>
          <p:spPr>
            <a:xfrm>
              <a:off x="0" y="0"/>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txBody>
            <a:bodyPr/>
            <a:lstStyle/>
            <a:p>
              <a:endParaRPr lang="en-US" dirty="0"/>
            </a:p>
          </p:txBody>
        </p:sp>
        <p:sp>
          <p:nvSpPr>
            <p:cNvPr id="26" name="TextBox 26">
              <a:extLst>
                <a:ext uri="{FF2B5EF4-FFF2-40B4-BE49-F238E27FC236}">
                  <a16:creationId xmlns:a16="http://schemas.microsoft.com/office/drawing/2014/main" id="{F1757FFB-6BCF-6C95-FFC6-68FF804D60B2}"/>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4" name="Text 3">
            <a:extLst>
              <a:ext uri="{FF2B5EF4-FFF2-40B4-BE49-F238E27FC236}">
                <a16:creationId xmlns:a16="http://schemas.microsoft.com/office/drawing/2014/main" id="{3C3A6153-9874-9295-E27F-CCBFA0A619DB}"/>
              </a:ext>
            </a:extLst>
          </p:cNvPr>
          <p:cNvSpPr/>
          <p:nvPr/>
        </p:nvSpPr>
        <p:spPr>
          <a:xfrm>
            <a:off x="685800" y="2933700"/>
            <a:ext cx="16687800" cy="530352"/>
          </a:xfrm>
          <a:prstGeom prst="rect">
            <a:avLst/>
          </a:prstGeom>
          <a:solidFill>
            <a:srgbClr val="15181C"/>
          </a:solidFill>
          <a:ln w="12700">
            <a:solidFill>
              <a:srgbClr val="FFFFFF"/>
            </a:solidFill>
          </a:ln>
        </p:spPr>
        <p:txBody>
          <a:bodyPr wrap="square" lIns="1524" tIns="1524" rIns="1524" bIns="1524" rtlCol="0" anchor="ctr">
            <a:normAutofit/>
          </a:bodyPr>
          <a:lstStyle/>
          <a:p>
            <a:pPr marL="0" indent="0" algn="l">
              <a:buNone/>
            </a:pPr>
            <a:r>
              <a:rPr lang="en-US" sz="2000" dirty="0">
                <a:solidFill>
                  <a:srgbClr val="FFFFFF"/>
                </a:solidFill>
                <a:latin typeface="Montserrat Bold" panose="00000800000000000000" charset="0"/>
                <a:ea typeface="Aptos Mono" pitchFamily="34" charset="-122"/>
                <a:cs typeface="Aptos Mono" pitchFamily="34" charset="-120"/>
              </a:rPr>
              <a:t>Model                        Status              PR-AUC    Lift        Meaning</a:t>
            </a:r>
            <a:endParaRPr lang="en-US" sz="2000" dirty="0">
              <a:latin typeface="Montserrat Bold" panose="00000800000000000000" charset="0"/>
            </a:endParaRPr>
          </a:p>
        </p:txBody>
      </p:sp>
      <p:sp>
        <p:nvSpPr>
          <p:cNvPr id="20" name="Text 4">
            <a:extLst>
              <a:ext uri="{FF2B5EF4-FFF2-40B4-BE49-F238E27FC236}">
                <a16:creationId xmlns:a16="http://schemas.microsoft.com/office/drawing/2014/main" id="{6A794B91-4435-3994-DC11-24A1488B94E9}"/>
              </a:ext>
            </a:extLst>
          </p:cNvPr>
          <p:cNvSpPr/>
          <p:nvPr/>
        </p:nvSpPr>
        <p:spPr>
          <a:xfrm>
            <a:off x="685800" y="3436620"/>
            <a:ext cx="16916400" cy="558498"/>
          </a:xfrm>
          <a:prstGeom prst="rect">
            <a:avLst/>
          </a:prstGeom>
          <a:solidFill>
            <a:srgbClr val="FFFFFF"/>
          </a:solidFill>
          <a:ln w="12700">
            <a:solidFill>
              <a:srgbClr val="FFFFFF"/>
            </a:solidFill>
          </a:ln>
        </p:spPr>
        <p:txBody>
          <a:bodyPr wrap="square" lIns="1524" tIns="1524" rIns="1524" bIns="1524" rtlCol="0" anchor="ctr">
            <a:noAutofit/>
          </a:bodyPr>
          <a:lstStyle/>
          <a:p>
            <a:pPr marL="0" indent="0" algn="l">
              <a:buNone/>
            </a:pPr>
            <a:r>
              <a:rPr lang="en-US" sz="2000" dirty="0" err="1">
                <a:solidFill>
                  <a:srgbClr val="12161A"/>
                </a:solidFill>
                <a:latin typeface="Montserrat "/>
                <a:ea typeface="Aptos Mono" pitchFamily="34" charset="-122"/>
                <a:cs typeface="Aptos Mono" pitchFamily="34" charset="-120"/>
              </a:rPr>
              <a:t>time_only</a:t>
            </a:r>
            <a:r>
              <a:rPr lang="en-US" sz="2000" dirty="0">
                <a:solidFill>
                  <a:srgbClr val="12161A"/>
                </a:solidFill>
                <a:latin typeface="Montserrat "/>
                <a:ea typeface="Aptos Mono" pitchFamily="34" charset="-122"/>
                <a:cs typeface="Aptos Mono" pitchFamily="34" charset="-120"/>
              </a:rPr>
              <a:t>                 diagnostic            0.4125       1.00×       matches base rate by construction: negatives inherit positive timestamps</a:t>
            </a:r>
            <a:endParaRPr lang="en-US" sz="2000" dirty="0">
              <a:latin typeface="Montserrat "/>
            </a:endParaRPr>
          </a:p>
        </p:txBody>
      </p:sp>
      <p:sp>
        <p:nvSpPr>
          <p:cNvPr id="22" name="Text 5">
            <a:extLst>
              <a:ext uri="{FF2B5EF4-FFF2-40B4-BE49-F238E27FC236}">
                <a16:creationId xmlns:a16="http://schemas.microsoft.com/office/drawing/2014/main" id="{71585E0A-C3E7-445A-14CE-B29E08D13E2C}"/>
              </a:ext>
            </a:extLst>
          </p:cNvPr>
          <p:cNvSpPr/>
          <p:nvPr/>
        </p:nvSpPr>
        <p:spPr>
          <a:xfrm>
            <a:off x="685800" y="3966972"/>
            <a:ext cx="16687800" cy="704241"/>
          </a:xfrm>
          <a:prstGeom prst="rect">
            <a:avLst/>
          </a:prstGeom>
          <a:solidFill>
            <a:srgbClr val="E8F6EF"/>
          </a:solidFill>
          <a:ln w="12700">
            <a:solidFill>
              <a:srgbClr val="FFFFFF"/>
            </a:solidFill>
          </a:ln>
        </p:spPr>
        <p:txBody>
          <a:bodyPr wrap="square" lIns="1524" tIns="1524" rIns="1524" bIns="1524" rtlCol="0" anchor="ctr">
            <a:noAutofit/>
          </a:bodyPr>
          <a:lstStyle/>
          <a:p>
            <a:pPr marL="0" indent="0" algn="l">
              <a:buNone/>
            </a:pPr>
            <a:r>
              <a:rPr lang="en-US" sz="2000" dirty="0" err="1">
                <a:solidFill>
                  <a:srgbClr val="12161A"/>
                </a:solidFill>
                <a:latin typeface="Montserrat "/>
                <a:ea typeface="Aptos Mono" pitchFamily="34" charset="-122"/>
                <a:cs typeface="Aptos Mono" pitchFamily="34" charset="-120"/>
              </a:rPr>
              <a:t>road_only</a:t>
            </a:r>
            <a:r>
              <a:rPr lang="en-US" sz="2000" dirty="0">
                <a:solidFill>
                  <a:srgbClr val="12161A"/>
                </a:solidFill>
                <a:latin typeface="Montserrat "/>
                <a:ea typeface="Aptos Mono" pitchFamily="34" charset="-122"/>
                <a:cs typeface="Aptos Mono" pitchFamily="34" charset="-120"/>
              </a:rPr>
              <a:t>                DEPLOYED          0.7228       1.76×       best leakage-safe product model</a:t>
            </a:r>
            <a:endParaRPr lang="en-US" sz="2000" dirty="0">
              <a:latin typeface="Montserrat "/>
            </a:endParaRPr>
          </a:p>
        </p:txBody>
      </p:sp>
      <p:sp>
        <p:nvSpPr>
          <p:cNvPr id="27" name="Text 6">
            <a:extLst>
              <a:ext uri="{FF2B5EF4-FFF2-40B4-BE49-F238E27FC236}">
                <a16:creationId xmlns:a16="http://schemas.microsoft.com/office/drawing/2014/main" id="{59A85B6A-E362-1C8C-3872-796ABF9BDA0F}"/>
              </a:ext>
            </a:extLst>
          </p:cNvPr>
          <p:cNvSpPr/>
          <p:nvPr/>
        </p:nvSpPr>
        <p:spPr>
          <a:xfrm>
            <a:off x="685800" y="4671213"/>
            <a:ext cx="16687800" cy="587397"/>
          </a:xfrm>
          <a:prstGeom prst="rect">
            <a:avLst/>
          </a:prstGeom>
          <a:solidFill>
            <a:srgbClr val="FFFFFF"/>
          </a:solidFill>
          <a:ln w="12700">
            <a:solidFill>
              <a:srgbClr val="FFFFFF"/>
            </a:solidFill>
          </a:ln>
        </p:spPr>
        <p:txBody>
          <a:bodyPr wrap="square" lIns="1524" tIns="1524" rIns="1524" bIns="1524" rtlCol="0" anchor="ctr">
            <a:noAutofit/>
          </a:bodyPr>
          <a:lstStyle/>
          <a:p>
            <a:pPr marL="0" indent="0" algn="l">
              <a:buNone/>
            </a:pPr>
            <a:r>
              <a:rPr lang="en-US" sz="2000" dirty="0">
                <a:solidFill>
                  <a:srgbClr val="12161A"/>
                </a:solidFill>
                <a:latin typeface="Montserrat "/>
                <a:ea typeface="Aptos Mono" pitchFamily="34" charset="-122"/>
                <a:cs typeface="Aptos Mono" pitchFamily="34" charset="-120"/>
              </a:rPr>
              <a:t>road + time             diagnostic            0.7049      1.71×       time does not improve the road model</a:t>
            </a:r>
            <a:endParaRPr lang="en-US" sz="2000" dirty="0">
              <a:latin typeface="Montserrat "/>
            </a:endParaRPr>
          </a:p>
        </p:txBody>
      </p:sp>
      <p:sp>
        <p:nvSpPr>
          <p:cNvPr id="29" name="Text 7">
            <a:extLst>
              <a:ext uri="{FF2B5EF4-FFF2-40B4-BE49-F238E27FC236}">
                <a16:creationId xmlns:a16="http://schemas.microsoft.com/office/drawing/2014/main" id="{05FC8CF9-5D66-A9B7-485E-0D1C89ED2547}"/>
              </a:ext>
            </a:extLst>
          </p:cNvPr>
          <p:cNvSpPr/>
          <p:nvPr/>
        </p:nvSpPr>
        <p:spPr>
          <a:xfrm>
            <a:off x="685800" y="5202279"/>
            <a:ext cx="16687800" cy="862585"/>
          </a:xfrm>
          <a:prstGeom prst="rect">
            <a:avLst/>
          </a:prstGeom>
          <a:solidFill>
            <a:srgbClr val="FDE8E6"/>
          </a:solidFill>
          <a:ln w="12700">
            <a:solidFill>
              <a:srgbClr val="FFFFFF"/>
            </a:solidFill>
          </a:ln>
        </p:spPr>
        <p:txBody>
          <a:bodyPr wrap="square" lIns="1524" tIns="1524" rIns="1524" bIns="1524" rtlCol="0" anchor="ctr">
            <a:normAutofit/>
          </a:bodyPr>
          <a:lstStyle/>
          <a:p>
            <a:pPr marL="0" indent="0" algn="l">
              <a:buNone/>
            </a:pPr>
            <a:r>
              <a:rPr lang="en-US" sz="2000" dirty="0">
                <a:solidFill>
                  <a:srgbClr val="12161A"/>
                </a:solidFill>
                <a:latin typeface="Montserrat "/>
                <a:ea typeface="Aptos Mono" pitchFamily="34" charset="-122"/>
                <a:cs typeface="Aptos Mono" pitchFamily="34" charset="-120"/>
              </a:rPr>
              <a:t>leaky                         INVALID                0.8892      2.16×      uses accident-derived columns; not reported as performance</a:t>
            </a:r>
            <a:endParaRPr lang="en-US" sz="2000" dirty="0">
              <a:latin typeface="Montserrat "/>
            </a:endParaRPr>
          </a:p>
        </p:txBody>
      </p:sp>
      <p:sp>
        <p:nvSpPr>
          <p:cNvPr id="31" name="TextBox 30">
            <a:extLst>
              <a:ext uri="{FF2B5EF4-FFF2-40B4-BE49-F238E27FC236}">
                <a16:creationId xmlns:a16="http://schemas.microsoft.com/office/drawing/2014/main" id="{5D1E3841-B0B2-A476-8169-4A404465C5C0}"/>
              </a:ext>
            </a:extLst>
          </p:cNvPr>
          <p:cNvSpPr txBox="1"/>
          <p:nvPr/>
        </p:nvSpPr>
        <p:spPr>
          <a:xfrm>
            <a:off x="1271574" y="7067458"/>
            <a:ext cx="3771900" cy="2246769"/>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Leakage removed</a:t>
            </a:r>
            <a:endParaRPr lang="en-US" sz="2000" dirty="0">
              <a:latin typeface="Montserrat Bold" panose="00000800000000000000" charset="0"/>
            </a:endParaRPr>
          </a:p>
          <a:p>
            <a:pPr marL="0" indent="0" algn="l">
              <a:buNone/>
            </a:pPr>
            <a:r>
              <a:rPr lang="en-US" sz="2000" dirty="0">
                <a:solidFill>
                  <a:srgbClr val="12161A"/>
                </a:solidFill>
                <a:latin typeface="Montserrat Bold" panose="00000800000000000000" charset="0"/>
                <a:ea typeface="Aptos" pitchFamily="34" charset="-122"/>
                <a:cs typeface="Aptos" pitchFamily="34" charset="-120"/>
              </a:rPr>
              <a:t>Every positive had </a:t>
            </a:r>
            <a:r>
              <a:rPr lang="en-US" sz="2000" dirty="0" err="1">
                <a:solidFill>
                  <a:srgbClr val="12161A"/>
                </a:solidFill>
                <a:latin typeface="Montserrat Bold" panose="00000800000000000000" charset="0"/>
                <a:ea typeface="Aptos" pitchFamily="34" charset="-122"/>
                <a:cs typeface="Aptos" pitchFamily="34" charset="-120"/>
              </a:rPr>
              <a:t>accident_count</a:t>
            </a:r>
            <a:r>
              <a:rPr lang="en-US" sz="2000" dirty="0">
                <a:solidFill>
                  <a:srgbClr val="12161A"/>
                </a:solidFill>
                <a:latin typeface="Montserrat Bold" panose="00000800000000000000" charset="0"/>
                <a:ea typeface="Aptos" pitchFamily="34" charset="-122"/>
                <a:cs typeface="Aptos" pitchFamily="34" charset="-120"/>
              </a:rPr>
              <a:t> ≥ 1 by construction; only 7.6% of negatives did. Recall hit exactly 1.000 — the model read the label.</a:t>
            </a:r>
            <a:endParaRPr lang="en-US" sz="2000" dirty="0">
              <a:latin typeface="Montserrat Bold" panose="00000800000000000000" charset="0"/>
            </a:endParaRPr>
          </a:p>
        </p:txBody>
      </p:sp>
      <p:sp>
        <p:nvSpPr>
          <p:cNvPr id="33" name="TextBox 32">
            <a:extLst>
              <a:ext uri="{FF2B5EF4-FFF2-40B4-BE49-F238E27FC236}">
                <a16:creationId xmlns:a16="http://schemas.microsoft.com/office/drawing/2014/main" id="{2017B08B-71B4-DD73-131F-6E1C87F1525E}"/>
              </a:ext>
            </a:extLst>
          </p:cNvPr>
          <p:cNvSpPr txBox="1"/>
          <p:nvPr/>
        </p:nvSpPr>
        <p:spPr>
          <a:xfrm>
            <a:off x="6086475" y="7100795"/>
            <a:ext cx="3362325" cy="1938992"/>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Negative sampling fixed</a:t>
            </a:r>
            <a:endParaRPr lang="en-US" sz="2000" dirty="0">
              <a:latin typeface="Montserrat Bold" panose="00000800000000000000" charset="0"/>
            </a:endParaRPr>
          </a:p>
          <a:p>
            <a:pPr marL="0" indent="0" algn="l">
              <a:buNone/>
            </a:pPr>
            <a:r>
              <a:rPr lang="en-US" sz="2000" dirty="0">
                <a:solidFill>
                  <a:srgbClr val="12161A"/>
                </a:solidFill>
                <a:latin typeface="Montserrat Bold" panose="00000800000000000000" charset="0"/>
                <a:ea typeface="Aptos" pitchFamily="34" charset="-122"/>
                <a:cs typeface="Aptos" pitchFamily="34" charset="-120"/>
              </a:rPr>
              <a:t>Negatives restricted to rideable road classes, so the task is not “road versus footpath”.</a:t>
            </a:r>
            <a:endParaRPr lang="en-US" sz="2000" dirty="0">
              <a:latin typeface="Montserrat Bold" panose="00000800000000000000" charset="0"/>
            </a:endParaRPr>
          </a:p>
        </p:txBody>
      </p:sp>
      <p:sp>
        <p:nvSpPr>
          <p:cNvPr id="35" name="TextBox 34">
            <a:extLst>
              <a:ext uri="{FF2B5EF4-FFF2-40B4-BE49-F238E27FC236}">
                <a16:creationId xmlns:a16="http://schemas.microsoft.com/office/drawing/2014/main" id="{12A7A813-C241-68CF-776A-A143520ED3CC}"/>
              </a:ext>
            </a:extLst>
          </p:cNvPr>
          <p:cNvSpPr txBox="1"/>
          <p:nvPr/>
        </p:nvSpPr>
        <p:spPr>
          <a:xfrm>
            <a:off x="11287125" y="7105557"/>
            <a:ext cx="3571875" cy="1631216"/>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Honest result</a:t>
            </a:r>
            <a:endParaRPr lang="en-US" sz="2000" dirty="0">
              <a:latin typeface="Montserrat Bold" panose="00000800000000000000" charset="0"/>
            </a:endParaRPr>
          </a:p>
          <a:p>
            <a:pPr marL="0" indent="0" algn="l">
              <a:buNone/>
            </a:pPr>
            <a:r>
              <a:rPr lang="en-US" sz="2000" dirty="0">
                <a:solidFill>
                  <a:srgbClr val="12161A"/>
                </a:solidFill>
                <a:latin typeface="Montserrat Bold" panose="00000800000000000000" charset="0"/>
                <a:ea typeface="Aptos" pitchFamily="34" charset="-122"/>
                <a:cs typeface="Aptos" pitchFamily="34" charset="-120"/>
              </a:rPr>
              <a:t>0.72 against a 0.41 base rate. Lower than 0.89, and the only figure we can defend.</a:t>
            </a:r>
            <a:endParaRPr lang="en-US" sz="2000" dirty="0">
              <a:latin typeface="Montserrat Bold" panose="00000800000000000000" charset="0"/>
            </a:endParaRPr>
          </a:p>
        </p:txBody>
      </p:sp>
      <p:sp>
        <p:nvSpPr>
          <p:cNvPr id="5" name="Text 8">
            <a:extLst>
              <a:ext uri="{FF2B5EF4-FFF2-40B4-BE49-F238E27FC236}">
                <a16:creationId xmlns:a16="http://schemas.microsoft.com/office/drawing/2014/main" id="{25D88F90-163C-1A10-F14C-7D9761091673}"/>
              </a:ext>
            </a:extLst>
          </p:cNvPr>
          <p:cNvSpPr/>
          <p:nvPr/>
        </p:nvSpPr>
        <p:spPr>
          <a:xfrm>
            <a:off x="17245584" y="9542705"/>
            <a:ext cx="713232" cy="329184"/>
          </a:xfrm>
          <a:prstGeom prst="rect">
            <a:avLst/>
          </a:prstGeom>
          <a:noFill/>
          <a:ln/>
        </p:spPr>
        <p:txBody>
          <a:bodyPr wrap="square" lIns="0" tIns="0" rIns="0" bIns="0" rtlCol="0" anchor="ctr"/>
          <a:lstStyle/>
          <a:p>
            <a:pPr algn="r"/>
            <a:r>
              <a:rPr lang="en-US" sz="1500" b="1" dirty="0">
                <a:solidFill>
                  <a:srgbClr val="5C6874"/>
                </a:solidFill>
              </a:rPr>
              <a:t>5</a:t>
            </a:r>
            <a:endParaRPr lang="en-US" sz="1500" dirty="0"/>
          </a:p>
        </p:txBody>
      </p:sp>
    </p:spTree>
    <p:extLst>
      <p:ext uri="{BB962C8B-B14F-4D97-AF65-F5344CB8AC3E}">
        <p14:creationId xmlns:p14="http://schemas.microsoft.com/office/powerpoint/2010/main" val="111875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60AC-642B-7F14-09D0-FCD6F16D3E0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784B9EB-58A0-B7DF-A0C2-7AEF0BAB1571}"/>
              </a:ext>
            </a:extLst>
          </p:cNvPr>
          <p:cNvSpPr txBox="1"/>
          <p:nvPr/>
        </p:nvSpPr>
        <p:spPr>
          <a:xfrm>
            <a:off x="346115" y="266700"/>
            <a:ext cx="14817685" cy="2134815"/>
          </a:xfrm>
          <a:prstGeom prst="rect">
            <a:avLst/>
          </a:prstGeom>
        </p:spPr>
        <p:txBody>
          <a:bodyPr lIns="0" tIns="0" rIns="0" bIns="0" rtlCol="0" anchor="t">
            <a:spAutoFit/>
          </a:bodyPr>
          <a:lstStyle/>
          <a:p>
            <a:r>
              <a:rPr lang="en-US" sz="6600" b="1" dirty="0">
                <a:solidFill>
                  <a:srgbClr val="12161A"/>
                </a:solidFill>
                <a:latin typeface="Red Hat Display Bold" panose="020B0604020202020204" charset="0"/>
                <a:ea typeface="Aptos Display" pitchFamily="34" charset="-122"/>
                <a:cs typeface="Aptos Display" pitchFamily="34" charset="-120"/>
              </a:rPr>
              <a:t>6 · Metric choice</a:t>
            </a:r>
            <a:endParaRPr lang="en-US" sz="6600" dirty="0">
              <a:latin typeface="Red Hat Display Bold" panose="020B0604020202020204" charset="0"/>
            </a:endParaRPr>
          </a:p>
          <a:p>
            <a:pPr algn="ctr"/>
            <a:r>
              <a:rPr lang="en-US" sz="2000" dirty="0">
                <a:solidFill>
                  <a:srgbClr val="5C6874"/>
                </a:solidFill>
                <a:latin typeface="Montserrat Bold" panose="00000800000000000000" charset="0"/>
              </a:rPr>
              <a:t>Why PR-AUC and lift are more useful than accuracy</a:t>
            </a:r>
            <a:endParaRPr lang="en-US" sz="2000" dirty="0">
              <a:latin typeface="Montserrat Bold" panose="00000800000000000000" charset="0"/>
            </a:endParaRPr>
          </a:p>
          <a:p>
            <a:pPr algn="ctr">
              <a:lnSpc>
                <a:spcPts val="6065"/>
              </a:lnSpc>
            </a:pPr>
            <a:endParaRPr lang="en-US" sz="6332" b="1" dirty="0">
              <a:solidFill>
                <a:srgbClr val="2D2261"/>
              </a:solidFill>
              <a:latin typeface="Red Hat Display Bold"/>
              <a:ea typeface="Red Hat Display Bold"/>
              <a:cs typeface="Red Hat Display Bold"/>
              <a:sym typeface="Red Hat Display Bold"/>
            </a:endParaRPr>
          </a:p>
        </p:txBody>
      </p:sp>
      <p:sp>
        <p:nvSpPr>
          <p:cNvPr id="6" name="TextBox 6">
            <a:extLst>
              <a:ext uri="{FF2B5EF4-FFF2-40B4-BE49-F238E27FC236}">
                <a16:creationId xmlns:a16="http://schemas.microsoft.com/office/drawing/2014/main" id="{D08DFED1-512F-FB25-6A1F-11A2BFF7C7F5}"/>
              </a:ext>
            </a:extLst>
          </p:cNvPr>
          <p:cNvSpPr txBox="1"/>
          <p:nvPr/>
        </p:nvSpPr>
        <p:spPr>
          <a:xfrm>
            <a:off x="2498443" y="3641812"/>
            <a:ext cx="3018068" cy="1623696"/>
          </a:xfrm>
          <a:prstGeom prst="rect">
            <a:avLst/>
          </a:prstGeom>
        </p:spPr>
        <p:txBody>
          <a:bodyPr lIns="0" tIns="0" rIns="0" bIns="0" rtlCol="0" anchor="t">
            <a:spAutoFit/>
          </a:bodyPr>
          <a:lstStyle/>
          <a:p>
            <a:pPr algn="ctr">
              <a:lnSpc>
                <a:spcPts val="6579"/>
              </a:lnSpc>
            </a:pPr>
            <a:r>
              <a:rPr lang="en-US" sz="4699" b="1">
                <a:solidFill>
                  <a:srgbClr val="FBFCFE"/>
                </a:solidFill>
                <a:latin typeface="Red Hat Display Bold"/>
                <a:ea typeface="Red Hat Display Bold"/>
                <a:cs typeface="Red Hat Display Bold"/>
                <a:sym typeface="Red Hat Display Bold"/>
              </a:rPr>
              <a:t>37,948</a:t>
            </a:r>
          </a:p>
          <a:p>
            <a:pPr algn="ctr">
              <a:lnSpc>
                <a:spcPts val="6579"/>
              </a:lnSpc>
            </a:pPr>
            <a:endParaRPr lang="en-US" sz="4699" b="1">
              <a:solidFill>
                <a:srgbClr val="FBFCFE"/>
              </a:solidFill>
              <a:latin typeface="Red Hat Display Bold"/>
              <a:ea typeface="Red Hat Display Bold"/>
              <a:cs typeface="Red Hat Display Bold"/>
              <a:sym typeface="Red Hat Display Bold"/>
            </a:endParaRPr>
          </a:p>
        </p:txBody>
      </p:sp>
      <p:grpSp>
        <p:nvGrpSpPr>
          <p:cNvPr id="7" name="Group 7">
            <a:extLst>
              <a:ext uri="{FF2B5EF4-FFF2-40B4-BE49-F238E27FC236}">
                <a16:creationId xmlns:a16="http://schemas.microsoft.com/office/drawing/2014/main" id="{4F053BFF-40DF-31D4-6392-C7CC12896C3F}"/>
              </a:ext>
            </a:extLst>
          </p:cNvPr>
          <p:cNvGrpSpPr/>
          <p:nvPr/>
        </p:nvGrpSpPr>
        <p:grpSpPr>
          <a:xfrm>
            <a:off x="1411441" y="3102376"/>
            <a:ext cx="4657911" cy="4166235"/>
            <a:chOff x="0" y="0"/>
            <a:chExt cx="1080692" cy="973832"/>
          </a:xfrm>
        </p:grpSpPr>
        <p:sp>
          <p:nvSpPr>
            <p:cNvPr id="8" name="Freeform 8">
              <a:extLst>
                <a:ext uri="{FF2B5EF4-FFF2-40B4-BE49-F238E27FC236}">
                  <a16:creationId xmlns:a16="http://schemas.microsoft.com/office/drawing/2014/main" id="{2EBF2E0C-FC4A-744A-D3EA-279A8652BF90}"/>
                </a:ext>
              </a:extLst>
            </p:cNvPr>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sp>
        <p:sp>
          <p:nvSpPr>
            <p:cNvPr id="9" name="TextBox 9">
              <a:extLst>
                <a:ext uri="{FF2B5EF4-FFF2-40B4-BE49-F238E27FC236}">
                  <a16:creationId xmlns:a16="http://schemas.microsoft.com/office/drawing/2014/main" id="{EE4B0885-5D2F-75E9-BFB4-535965D221AF}"/>
                </a:ext>
              </a:extLst>
            </p:cNvPr>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grpSp>
        <p:nvGrpSpPr>
          <p:cNvPr id="10" name="Group 10">
            <a:extLst>
              <a:ext uri="{FF2B5EF4-FFF2-40B4-BE49-F238E27FC236}">
                <a16:creationId xmlns:a16="http://schemas.microsoft.com/office/drawing/2014/main" id="{42EAA24E-59BC-BA9C-2F43-7AB18EB3ED62}"/>
              </a:ext>
            </a:extLst>
          </p:cNvPr>
          <p:cNvGrpSpPr/>
          <p:nvPr/>
        </p:nvGrpSpPr>
        <p:grpSpPr>
          <a:xfrm>
            <a:off x="12482465" y="2650895"/>
            <a:ext cx="5029200" cy="4612953"/>
            <a:chOff x="-46472" y="-47625"/>
            <a:chExt cx="968082" cy="552833"/>
          </a:xfrm>
        </p:grpSpPr>
        <p:sp>
          <p:nvSpPr>
            <p:cNvPr id="11" name="Freeform 11">
              <a:extLst>
                <a:ext uri="{FF2B5EF4-FFF2-40B4-BE49-F238E27FC236}">
                  <a16:creationId xmlns:a16="http://schemas.microsoft.com/office/drawing/2014/main" id="{E4AEBE3F-7E38-04E9-4B9A-BCE730F1A654}"/>
                </a:ext>
              </a:extLst>
            </p:cNvPr>
            <p:cNvSpPr/>
            <p:nvPr/>
          </p:nvSpPr>
          <p:spPr>
            <a:xfrm>
              <a:off x="-46472" y="13536"/>
              <a:ext cx="921610" cy="491672"/>
            </a:xfrm>
            <a:custGeom>
              <a:avLst/>
              <a:gdLst/>
              <a:ahLst/>
              <a:cxnLst/>
              <a:rect l="l" t="t" r="r" b="b"/>
              <a:pathLst>
                <a:path w="921610" h="491672">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txBody>
            <a:bodyPr/>
            <a:lstStyle/>
            <a:p>
              <a:endParaRPr lang="en-US" dirty="0"/>
            </a:p>
          </p:txBody>
        </p:sp>
        <p:sp>
          <p:nvSpPr>
            <p:cNvPr id="12" name="TextBox 12">
              <a:extLst>
                <a:ext uri="{FF2B5EF4-FFF2-40B4-BE49-F238E27FC236}">
                  <a16:creationId xmlns:a16="http://schemas.microsoft.com/office/drawing/2014/main" id="{4B21FA02-4A6A-6AC6-E8E9-C0BF3A97D7C1}"/>
                </a:ext>
              </a:extLst>
            </p:cNvPr>
            <p:cNvSpPr txBox="1"/>
            <p:nvPr/>
          </p:nvSpPr>
          <p:spPr>
            <a:xfrm>
              <a:off x="0" y="-47625"/>
              <a:ext cx="921610" cy="539297"/>
            </a:xfrm>
            <a:prstGeom prst="rect">
              <a:avLst/>
            </a:prstGeom>
          </p:spPr>
          <p:txBody>
            <a:bodyPr lIns="50800" tIns="50800" rIns="50800" bIns="50800" rtlCol="0" anchor="ctr"/>
            <a:lstStyle/>
            <a:p>
              <a:pPr algn="ctr">
                <a:lnSpc>
                  <a:spcPts val="3032"/>
                </a:lnSpc>
              </a:pPr>
              <a:endParaRPr/>
            </a:p>
          </p:txBody>
        </p:sp>
      </p:grpSp>
      <p:sp>
        <p:nvSpPr>
          <p:cNvPr id="13" name="TextBox 13">
            <a:extLst>
              <a:ext uri="{FF2B5EF4-FFF2-40B4-BE49-F238E27FC236}">
                <a16:creationId xmlns:a16="http://schemas.microsoft.com/office/drawing/2014/main" id="{A6889877-9F29-AC76-813E-2CC7F1A35DFB}"/>
              </a:ext>
            </a:extLst>
          </p:cNvPr>
          <p:cNvSpPr txBox="1"/>
          <p:nvPr/>
        </p:nvSpPr>
        <p:spPr>
          <a:xfrm>
            <a:off x="6300157" y="3080385"/>
            <a:ext cx="2734329" cy="2063115"/>
          </a:xfrm>
          <a:prstGeom prst="rect">
            <a:avLst/>
          </a:prstGeom>
        </p:spPr>
        <p:txBody>
          <a:bodyPr lIns="0" tIns="0" rIns="0" bIns="0" rtlCol="0" anchor="t">
            <a:spAutoFit/>
          </a:bodyPr>
          <a:lstStyle/>
          <a:p>
            <a:pPr algn="ctr">
              <a:lnSpc>
                <a:spcPts val="3359"/>
              </a:lnSpc>
            </a:pPr>
            <a:endParaRPr dirty="0"/>
          </a:p>
          <a:p>
            <a:pPr algn="ctr">
              <a:lnSpc>
                <a:spcPts val="6580"/>
              </a:lnSpc>
            </a:pPr>
            <a:r>
              <a:rPr lang="en-US" sz="4700" b="1" dirty="0">
                <a:solidFill>
                  <a:srgbClr val="FBFCFE"/>
                </a:solidFill>
                <a:latin typeface="Red Hat Display Bold"/>
                <a:ea typeface="Red Hat Display Bold"/>
                <a:cs typeface="Red Hat Display Bold"/>
                <a:sym typeface="Red Hat Display Bold"/>
              </a:rPr>
              <a:t>37,896</a:t>
            </a: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a:p>
            <a:pPr algn="ctr">
              <a:lnSpc>
                <a:spcPts val="3359"/>
              </a:lnSpc>
            </a:pPr>
            <a:endParaRPr lang="en-US" sz="4700" b="1" dirty="0">
              <a:solidFill>
                <a:srgbClr val="FBFCFE"/>
              </a:solidFill>
              <a:latin typeface="Red Hat Display Bold"/>
              <a:ea typeface="Red Hat Display Bold"/>
              <a:cs typeface="Red Hat Display Bold"/>
              <a:sym typeface="Red Hat Display Bold"/>
            </a:endParaRPr>
          </a:p>
        </p:txBody>
      </p:sp>
      <p:grpSp>
        <p:nvGrpSpPr>
          <p:cNvPr id="14" name="Group 14">
            <a:extLst>
              <a:ext uri="{FF2B5EF4-FFF2-40B4-BE49-F238E27FC236}">
                <a16:creationId xmlns:a16="http://schemas.microsoft.com/office/drawing/2014/main" id="{77E7F914-B358-A007-2D2B-606286AAA729}"/>
              </a:ext>
            </a:extLst>
          </p:cNvPr>
          <p:cNvGrpSpPr/>
          <p:nvPr/>
        </p:nvGrpSpPr>
        <p:grpSpPr>
          <a:xfrm>
            <a:off x="6871904" y="3150287"/>
            <a:ext cx="4808009" cy="4167766"/>
            <a:chOff x="0" y="0"/>
            <a:chExt cx="1080692" cy="973832"/>
          </a:xfrm>
        </p:grpSpPr>
        <p:sp>
          <p:nvSpPr>
            <p:cNvPr id="15" name="Freeform 15">
              <a:extLst>
                <a:ext uri="{FF2B5EF4-FFF2-40B4-BE49-F238E27FC236}">
                  <a16:creationId xmlns:a16="http://schemas.microsoft.com/office/drawing/2014/main" id="{4EB65612-471F-6BD0-04FA-09A5C6F1E2B0}"/>
                </a:ext>
              </a:extLst>
            </p:cNvPr>
            <p:cNvSpPr/>
            <p:nvPr/>
          </p:nvSpPr>
          <p:spPr>
            <a:xfrm>
              <a:off x="0" y="0"/>
              <a:ext cx="1080692" cy="973832"/>
            </a:xfrm>
            <a:custGeom>
              <a:avLst/>
              <a:gdLst/>
              <a:ahLst/>
              <a:cxnLst/>
              <a:rect l="l" t="t" r="r" b="b"/>
              <a:pathLst>
                <a:path w="1080692" h="973832">
                  <a:moveTo>
                    <a:pt x="56603" y="0"/>
                  </a:moveTo>
                  <a:lnTo>
                    <a:pt x="1024089" y="0"/>
                  </a:lnTo>
                  <a:cubicBezTo>
                    <a:pt x="1039101" y="0"/>
                    <a:pt x="1053498" y="5964"/>
                    <a:pt x="1064114" y="16579"/>
                  </a:cubicBezTo>
                  <a:cubicBezTo>
                    <a:pt x="1074729" y="27194"/>
                    <a:pt x="1080692" y="41591"/>
                    <a:pt x="1080692" y="56603"/>
                  </a:cubicBezTo>
                  <a:lnTo>
                    <a:pt x="1080692" y="917229"/>
                  </a:lnTo>
                  <a:cubicBezTo>
                    <a:pt x="1080692" y="932241"/>
                    <a:pt x="1074729" y="946638"/>
                    <a:pt x="1064114" y="957253"/>
                  </a:cubicBezTo>
                  <a:cubicBezTo>
                    <a:pt x="1053498" y="967868"/>
                    <a:pt x="1039101" y="973832"/>
                    <a:pt x="1024089" y="973832"/>
                  </a:cubicBezTo>
                  <a:lnTo>
                    <a:pt x="56603" y="973832"/>
                  </a:lnTo>
                  <a:cubicBezTo>
                    <a:pt x="41591" y="973832"/>
                    <a:pt x="27194" y="967868"/>
                    <a:pt x="16579" y="957253"/>
                  </a:cubicBezTo>
                  <a:cubicBezTo>
                    <a:pt x="5964" y="946638"/>
                    <a:pt x="0" y="932241"/>
                    <a:pt x="0" y="917229"/>
                  </a:cubicBezTo>
                  <a:lnTo>
                    <a:pt x="0" y="56603"/>
                  </a:lnTo>
                  <a:cubicBezTo>
                    <a:pt x="0" y="41591"/>
                    <a:pt x="5964" y="27194"/>
                    <a:pt x="16579" y="16579"/>
                  </a:cubicBezTo>
                  <a:cubicBezTo>
                    <a:pt x="27194" y="5964"/>
                    <a:pt x="41591" y="0"/>
                    <a:pt x="56603" y="0"/>
                  </a:cubicBezTo>
                  <a:close/>
                </a:path>
              </a:pathLst>
            </a:custGeom>
            <a:solidFill>
              <a:srgbClr val="ECE1D7"/>
            </a:solidFill>
          </p:spPr>
          <p:txBody>
            <a:bodyPr/>
            <a:lstStyle/>
            <a:p>
              <a:endParaRPr lang="en-US" dirty="0"/>
            </a:p>
          </p:txBody>
        </p:sp>
        <p:sp>
          <p:nvSpPr>
            <p:cNvPr id="16" name="TextBox 16">
              <a:extLst>
                <a:ext uri="{FF2B5EF4-FFF2-40B4-BE49-F238E27FC236}">
                  <a16:creationId xmlns:a16="http://schemas.microsoft.com/office/drawing/2014/main" id="{131B45EE-B80C-5BAE-1A12-F74893E03E0F}"/>
                </a:ext>
              </a:extLst>
            </p:cNvPr>
            <p:cNvSpPr txBox="1"/>
            <p:nvPr/>
          </p:nvSpPr>
          <p:spPr>
            <a:xfrm>
              <a:off x="0" y="-47625"/>
              <a:ext cx="1080692" cy="1021457"/>
            </a:xfrm>
            <a:prstGeom prst="rect">
              <a:avLst/>
            </a:prstGeom>
          </p:spPr>
          <p:txBody>
            <a:bodyPr lIns="50800" tIns="50800" rIns="50800" bIns="50800" rtlCol="0" anchor="ctr"/>
            <a:lstStyle/>
            <a:p>
              <a:pPr algn="ctr">
                <a:lnSpc>
                  <a:spcPts val="3032"/>
                </a:lnSpc>
              </a:pPr>
              <a:endParaRPr/>
            </a:p>
          </p:txBody>
        </p:sp>
      </p:grpSp>
      <p:sp>
        <p:nvSpPr>
          <p:cNvPr id="4" name="TextBox 3">
            <a:extLst>
              <a:ext uri="{FF2B5EF4-FFF2-40B4-BE49-F238E27FC236}">
                <a16:creationId xmlns:a16="http://schemas.microsoft.com/office/drawing/2014/main" id="{8D8AE170-B465-E308-2012-E9D9D4CD6ACD}"/>
              </a:ext>
            </a:extLst>
          </p:cNvPr>
          <p:cNvSpPr txBox="1"/>
          <p:nvPr/>
        </p:nvSpPr>
        <p:spPr>
          <a:xfrm>
            <a:off x="1458062" y="3411750"/>
            <a:ext cx="4369867" cy="2246769"/>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Selected metrics</a:t>
            </a:r>
            <a:endParaRPr lang="en-US" sz="2000" dirty="0">
              <a:latin typeface="Montserrat Bold" panose="00000800000000000000" charset="0"/>
            </a:endParaRPr>
          </a:p>
          <a:p>
            <a:pPr marL="0" indent="0" algn="l">
              <a:buNone/>
            </a:pPr>
            <a:endParaRPr lang="en-US" sz="2000" dirty="0">
              <a:latin typeface="Montserrat Bold" panose="00000800000000000000" charset="0"/>
            </a:endParaRPr>
          </a:p>
          <a:p>
            <a:pPr marL="0" indent="0" algn="l">
              <a:buNone/>
            </a:pPr>
            <a:r>
              <a:rPr lang="en-US" sz="2000" dirty="0">
                <a:solidFill>
                  <a:srgbClr val="12161A"/>
                </a:solidFill>
                <a:latin typeface="Montserrat "/>
                <a:ea typeface="Aptos" pitchFamily="34" charset="-122"/>
                <a:cs typeface="Aptos" pitchFamily="34" charset="-120"/>
              </a:rPr>
              <a:t>Primary: PR-AUC</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Secondary: lift over base rate, top-10% recall, Brier score</a:t>
            </a:r>
            <a:endParaRPr lang="en-US" sz="2000" dirty="0">
              <a:latin typeface="Montserrat "/>
            </a:endParaRPr>
          </a:p>
          <a:p>
            <a:pPr marL="0" indent="0" algn="l">
              <a:buNone/>
            </a:pPr>
            <a:r>
              <a:rPr lang="en-US" sz="2000" dirty="0">
                <a:solidFill>
                  <a:srgbClr val="12161A"/>
                </a:solidFill>
                <a:latin typeface="Montserrat "/>
                <a:ea typeface="Aptos" pitchFamily="34" charset="-122"/>
                <a:cs typeface="Aptos" pitchFamily="34" charset="-120"/>
              </a:rPr>
              <a:t>Product: forward-validation lift, then risk reduction vs detour</a:t>
            </a:r>
            <a:endParaRPr lang="en-US" sz="2000" dirty="0">
              <a:latin typeface="Montserrat "/>
            </a:endParaRPr>
          </a:p>
        </p:txBody>
      </p:sp>
      <p:sp>
        <p:nvSpPr>
          <p:cNvPr id="20" name="TextBox 19">
            <a:extLst>
              <a:ext uri="{FF2B5EF4-FFF2-40B4-BE49-F238E27FC236}">
                <a16:creationId xmlns:a16="http://schemas.microsoft.com/office/drawing/2014/main" id="{45600586-0DA8-EF71-9601-ED858163DE8D}"/>
              </a:ext>
            </a:extLst>
          </p:cNvPr>
          <p:cNvSpPr txBox="1"/>
          <p:nvPr/>
        </p:nvSpPr>
        <p:spPr>
          <a:xfrm>
            <a:off x="6868310" y="3441679"/>
            <a:ext cx="4561690" cy="2554545"/>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Why PR-AUC?</a:t>
            </a:r>
            <a:endParaRPr lang="en-US" sz="2000" dirty="0">
              <a:latin typeface="Montserrat Bold" panose="00000800000000000000" charset="0"/>
            </a:endParaRPr>
          </a:p>
          <a:p>
            <a:pPr marL="0" indent="0" algn="l">
              <a:buNone/>
            </a:pPr>
            <a:endParaRPr lang="en-US" sz="2000" dirty="0">
              <a:latin typeface="Montserrat Bold" panose="00000800000000000000" charset="0"/>
            </a:endParaRPr>
          </a:p>
          <a:p>
            <a:pPr marL="0" indent="0" algn="l">
              <a:buNone/>
            </a:pPr>
            <a:r>
              <a:rPr lang="en-US" sz="2000" dirty="0">
                <a:solidFill>
                  <a:srgbClr val="12161A"/>
                </a:solidFill>
                <a:latin typeface="Montserrat "/>
                <a:ea typeface="Aptos" pitchFamily="34" charset="-122"/>
                <a:cs typeface="Aptos" pitchFamily="34" charset="-120"/>
              </a:rPr>
              <a:t>The positive class is rare and the product is a risk-ranking problem. We care whether high-risk segments appear near the top of the ranking, not just overall accuracy.</a:t>
            </a:r>
            <a:endParaRPr lang="en-US" sz="2000" dirty="0">
              <a:latin typeface="Montserrat "/>
            </a:endParaRPr>
          </a:p>
        </p:txBody>
      </p:sp>
      <p:sp>
        <p:nvSpPr>
          <p:cNvPr id="22" name="TextBox 21">
            <a:extLst>
              <a:ext uri="{FF2B5EF4-FFF2-40B4-BE49-F238E27FC236}">
                <a16:creationId xmlns:a16="http://schemas.microsoft.com/office/drawing/2014/main" id="{7D84B908-716A-7235-619A-FD405CFACE96}"/>
              </a:ext>
            </a:extLst>
          </p:cNvPr>
          <p:cNvSpPr txBox="1"/>
          <p:nvPr/>
        </p:nvSpPr>
        <p:spPr>
          <a:xfrm>
            <a:off x="12468177" y="3417746"/>
            <a:ext cx="4676823" cy="2246769"/>
          </a:xfrm>
          <a:prstGeom prst="rect">
            <a:avLst/>
          </a:prstGeom>
          <a:noFill/>
        </p:spPr>
        <p:txBody>
          <a:bodyPr wrap="square">
            <a:spAutoFit/>
          </a:bodyPr>
          <a:lstStyle/>
          <a:p>
            <a:pPr marL="0" indent="0" algn="l">
              <a:buNone/>
            </a:pPr>
            <a:r>
              <a:rPr lang="en-US" sz="2000" dirty="0">
                <a:solidFill>
                  <a:srgbClr val="12161A"/>
                </a:solidFill>
                <a:latin typeface="Montserrat Bold" panose="00000800000000000000" charset="0"/>
                <a:ea typeface="Aptos" pitchFamily="34" charset="-122"/>
                <a:cs typeface="Aptos" pitchFamily="34" charset="-120"/>
              </a:rPr>
              <a:t>What not to use alone</a:t>
            </a:r>
            <a:endParaRPr lang="en-US" sz="2000" dirty="0">
              <a:latin typeface="Montserrat Bold" panose="00000800000000000000" charset="0"/>
            </a:endParaRPr>
          </a:p>
          <a:p>
            <a:pPr marL="0" indent="0" algn="l">
              <a:buNone/>
            </a:pPr>
            <a:endParaRPr lang="en-US" sz="2000" dirty="0">
              <a:latin typeface="Montserrat Bold" panose="00000800000000000000" charset="0"/>
            </a:endParaRPr>
          </a:p>
          <a:p>
            <a:pPr marL="0" indent="0" algn="l">
              <a:buNone/>
            </a:pPr>
            <a:r>
              <a:rPr lang="en-US" sz="2000" dirty="0">
                <a:solidFill>
                  <a:srgbClr val="12161A"/>
                </a:solidFill>
                <a:latin typeface="Montserrat "/>
                <a:ea typeface="Aptos" pitchFamily="34" charset="-122"/>
                <a:cs typeface="Aptos" pitchFamily="34" charset="-120"/>
              </a:rPr>
              <a:t>Accuracy can look good even when the model misses risky segments. ROC-AUC is useful, but PR-AUC is more informative when positives are relatively scarce.</a:t>
            </a:r>
            <a:endParaRPr lang="en-US" sz="2000" dirty="0">
              <a:latin typeface="Montserrat "/>
            </a:endParaRPr>
          </a:p>
        </p:txBody>
      </p:sp>
      <p:sp>
        <p:nvSpPr>
          <p:cNvPr id="33" name="Text 6">
            <a:extLst>
              <a:ext uri="{FF2B5EF4-FFF2-40B4-BE49-F238E27FC236}">
                <a16:creationId xmlns:a16="http://schemas.microsoft.com/office/drawing/2014/main" id="{A20C1889-FBE6-5936-942D-8214222591A7}"/>
              </a:ext>
            </a:extLst>
          </p:cNvPr>
          <p:cNvSpPr/>
          <p:nvPr/>
        </p:nvSpPr>
        <p:spPr>
          <a:xfrm>
            <a:off x="1697355" y="8660892"/>
            <a:ext cx="1463040" cy="219456"/>
          </a:xfrm>
          <a:prstGeom prst="rect">
            <a:avLst/>
          </a:prstGeom>
          <a:noFill/>
          <a:ln/>
        </p:spPr>
        <p:txBody>
          <a:bodyPr wrap="square" lIns="0" tIns="0" rIns="0" bIns="0" rtlCol="0" anchor="ctr"/>
          <a:lstStyle/>
          <a:p>
            <a:pPr marL="0" indent="0">
              <a:buNone/>
            </a:pPr>
            <a:r>
              <a:rPr lang="en-US" sz="1600" b="1" dirty="0">
                <a:solidFill>
                  <a:srgbClr val="12161A"/>
                </a:solidFill>
                <a:latin typeface="Montserrat Bold" panose="00000800000000000000" charset="0"/>
              </a:rPr>
              <a:t>base rate</a:t>
            </a:r>
            <a:endParaRPr lang="en-US" sz="1600" dirty="0">
              <a:latin typeface="Montserrat Bold" panose="00000800000000000000" charset="0"/>
            </a:endParaRPr>
          </a:p>
        </p:txBody>
      </p:sp>
      <p:sp>
        <p:nvSpPr>
          <p:cNvPr id="35" name="Shape 7">
            <a:extLst>
              <a:ext uri="{FF2B5EF4-FFF2-40B4-BE49-F238E27FC236}">
                <a16:creationId xmlns:a16="http://schemas.microsoft.com/office/drawing/2014/main" id="{9E96C413-DCDF-5BA4-759A-449E82B711D6}"/>
              </a:ext>
            </a:extLst>
          </p:cNvPr>
          <p:cNvSpPr/>
          <p:nvPr/>
        </p:nvSpPr>
        <p:spPr>
          <a:xfrm>
            <a:off x="3278162" y="8660892"/>
            <a:ext cx="1706880" cy="228600"/>
          </a:xfrm>
          <a:prstGeom prst="rect">
            <a:avLst/>
          </a:prstGeom>
          <a:solidFill>
            <a:srgbClr val="DDE4EA"/>
          </a:solidFill>
          <a:ln w="12700">
            <a:solidFill>
              <a:srgbClr val="DDE4EA"/>
            </a:solidFill>
            <a:prstDash val="solid"/>
          </a:ln>
        </p:spPr>
      </p:sp>
      <p:sp>
        <p:nvSpPr>
          <p:cNvPr id="37" name="Shape 8">
            <a:extLst>
              <a:ext uri="{FF2B5EF4-FFF2-40B4-BE49-F238E27FC236}">
                <a16:creationId xmlns:a16="http://schemas.microsoft.com/office/drawing/2014/main" id="{BCF69664-EACA-26F8-3971-28183EABB738}"/>
              </a:ext>
            </a:extLst>
          </p:cNvPr>
          <p:cNvSpPr/>
          <p:nvPr/>
        </p:nvSpPr>
        <p:spPr>
          <a:xfrm>
            <a:off x="3278161" y="8660892"/>
            <a:ext cx="781371" cy="228600"/>
          </a:xfrm>
          <a:prstGeom prst="rect">
            <a:avLst/>
          </a:prstGeom>
          <a:solidFill>
            <a:srgbClr val="5C6874"/>
          </a:solidFill>
          <a:ln w="12700">
            <a:solidFill>
              <a:srgbClr val="5C6874"/>
            </a:solidFill>
            <a:prstDash val="solid"/>
          </a:ln>
        </p:spPr>
      </p:sp>
      <p:sp>
        <p:nvSpPr>
          <p:cNvPr id="39" name="Text 9">
            <a:extLst>
              <a:ext uri="{FF2B5EF4-FFF2-40B4-BE49-F238E27FC236}">
                <a16:creationId xmlns:a16="http://schemas.microsoft.com/office/drawing/2014/main" id="{5FFDB96D-C367-5B65-D1E3-4DA9981E4DD1}"/>
              </a:ext>
            </a:extLst>
          </p:cNvPr>
          <p:cNvSpPr/>
          <p:nvPr/>
        </p:nvSpPr>
        <p:spPr>
          <a:xfrm>
            <a:off x="5252275" y="8679180"/>
            <a:ext cx="685800" cy="201168"/>
          </a:xfrm>
          <a:prstGeom prst="rect">
            <a:avLst/>
          </a:prstGeom>
          <a:noFill/>
          <a:ln/>
        </p:spPr>
        <p:txBody>
          <a:bodyPr wrap="square" lIns="0" tIns="0" rIns="0" bIns="0" rtlCol="0" anchor="ctr"/>
          <a:lstStyle/>
          <a:p>
            <a:pPr marL="0" indent="0" algn="r">
              <a:buNone/>
            </a:pPr>
            <a:r>
              <a:rPr lang="en-US" sz="1600" dirty="0">
                <a:solidFill>
                  <a:srgbClr val="5C6874"/>
                </a:solidFill>
                <a:latin typeface="Montserrat Bold" panose="00000800000000000000" charset="0"/>
              </a:rPr>
              <a:t>0.412</a:t>
            </a:r>
            <a:endParaRPr lang="en-US" sz="1600" dirty="0">
              <a:latin typeface="Montserrat Bold" panose="00000800000000000000" charset="0"/>
            </a:endParaRPr>
          </a:p>
        </p:txBody>
      </p:sp>
      <p:sp>
        <p:nvSpPr>
          <p:cNvPr id="41" name="Text 10">
            <a:extLst>
              <a:ext uri="{FF2B5EF4-FFF2-40B4-BE49-F238E27FC236}">
                <a16:creationId xmlns:a16="http://schemas.microsoft.com/office/drawing/2014/main" id="{FADE167A-A0F2-67F0-43F6-4777B0538DB6}"/>
              </a:ext>
            </a:extLst>
          </p:cNvPr>
          <p:cNvSpPr/>
          <p:nvPr/>
        </p:nvSpPr>
        <p:spPr>
          <a:xfrm>
            <a:off x="3352800" y="9169908"/>
            <a:ext cx="1908882" cy="381000"/>
          </a:xfrm>
          <a:prstGeom prst="rect">
            <a:avLst/>
          </a:prstGeom>
          <a:noFill/>
          <a:ln/>
        </p:spPr>
        <p:txBody>
          <a:bodyPr wrap="square" lIns="0" tIns="0" rIns="0" bIns="0" rtlCol="0" anchor="ctr"/>
          <a:lstStyle/>
          <a:p>
            <a:pPr marL="0" indent="0">
              <a:buNone/>
            </a:pPr>
            <a:r>
              <a:rPr lang="en-US" sz="1600" dirty="0">
                <a:solidFill>
                  <a:srgbClr val="5C6874"/>
                </a:solidFill>
                <a:latin typeface="Montserrat Bold" panose="00000800000000000000" charset="0"/>
              </a:rPr>
              <a:t>expected PR-AUC with no ranking skill</a:t>
            </a:r>
            <a:endParaRPr lang="en-US" sz="1600" dirty="0">
              <a:latin typeface="Montserrat Bold" panose="00000800000000000000" charset="0"/>
            </a:endParaRPr>
          </a:p>
        </p:txBody>
      </p:sp>
      <p:sp>
        <p:nvSpPr>
          <p:cNvPr id="43" name="Text 11">
            <a:extLst>
              <a:ext uri="{FF2B5EF4-FFF2-40B4-BE49-F238E27FC236}">
                <a16:creationId xmlns:a16="http://schemas.microsoft.com/office/drawing/2014/main" id="{9B541021-4E30-1587-A2B1-37EFA4AD116B}"/>
              </a:ext>
            </a:extLst>
          </p:cNvPr>
          <p:cNvSpPr/>
          <p:nvPr/>
        </p:nvSpPr>
        <p:spPr>
          <a:xfrm>
            <a:off x="7162800" y="8651748"/>
            <a:ext cx="1463040" cy="219456"/>
          </a:xfrm>
          <a:prstGeom prst="rect">
            <a:avLst/>
          </a:prstGeom>
          <a:noFill/>
          <a:ln/>
        </p:spPr>
        <p:txBody>
          <a:bodyPr wrap="square" lIns="0" tIns="0" rIns="0" bIns="0" rtlCol="0" anchor="ctr"/>
          <a:lstStyle/>
          <a:p>
            <a:pPr marL="0" indent="0">
              <a:buNone/>
            </a:pPr>
            <a:r>
              <a:rPr lang="en-US" sz="1600" b="1" dirty="0">
                <a:solidFill>
                  <a:srgbClr val="12161A"/>
                </a:solidFill>
                <a:latin typeface="Montserrat Bold" panose="00000800000000000000" charset="0"/>
              </a:rPr>
              <a:t>road-only</a:t>
            </a:r>
            <a:endParaRPr lang="en-US" sz="1600" dirty="0">
              <a:latin typeface="Montserrat Bold" panose="00000800000000000000" charset="0"/>
            </a:endParaRPr>
          </a:p>
        </p:txBody>
      </p:sp>
      <p:sp>
        <p:nvSpPr>
          <p:cNvPr id="45" name="Shape 12">
            <a:extLst>
              <a:ext uri="{FF2B5EF4-FFF2-40B4-BE49-F238E27FC236}">
                <a16:creationId xmlns:a16="http://schemas.microsoft.com/office/drawing/2014/main" id="{AEDA9101-FFF2-42D7-BE06-B0D2DEB9F613}"/>
              </a:ext>
            </a:extLst>
          </p:cNvPr>
          <p:cNvSpPr/>
          <p:nvPr/>
        </p:nvSpPr>
        <p:spPr>
          <a:xfrm>
            <a:off x="8681999" y="8706612"/>
            <a:ext cx="1097280" cy="128016"/>
          </a:xfrm>
          <a:prstGeom prst="rect">
            <a:avLst/>
          </a:prstGeom>
          <a:solidFill>
            <a:srgbClr val="DDE4EA"/>
          </a:solidFill>
          <a:ln w="12700">
            <a:solidFill>
              <a:srgbClr val="DDE4EA"/>
            </a:solidFill>
            <a:prstDash val="solid"/>
          </a:ln>
        </p:spPr>
      </p:sp>
      <p:sp>
        <p:nvSpPr>
          <p:cNvPr id="47" name="Shape 13">
            <a:extLst>
              <a:ext uri="{FF2B5EF4-FFF2-40B4-BE49-F238E27FC236}">
                <a16:creationId xmlns:a16="http://schemas.microsoft.com/office/drawing/2014/main" id="{3B9D31F3-FEB8-D5B3-CB26-E588BDAE8E84}"/>
              </a:ext>
            </a:extLst>
          </p:cNvPr>
          <p:cNvSpPr/>
          <p:nvPr/>
        </p:nvSpPr>
        <p:spPr>
          <a:xfrm>
            <a:off x="8681999" y="8706612"/>
            <a:ext cx="881482" cy="128016"/>
          </a:xfrm>
          <a:prstGeom prst="rect">
            <a:avLst/>
          </a:prstGeom>
          <a:solidFill>
            <a:srgbClr val="12A55F"/>
          </a:solidFill>
          <a:ln w="12700">
            <a:solidFill>
              <a:srgbClr val="12A55F"/>
            </a:solidFill>
            <a:prstDash val="solid"/>
          </a:ln>
        </p:spPr>
      </p:sp>
      <p:sp>
        <p:nvSpPr>
          <p:cNvPr id="49" name="Text 14">
            <a:extLst>
              <a:ext uri="{FF2B5EF4-FFF2-40B4-BE49-F238E27FC236}">
                <a16:creationId xmlns:a16="http://schemas.microsoft.com/office/drawing/2014/main" id="{BCAF3DF8-A945-3511-9472-40A2EA0FAE44}"/>
              </a:ext>
            </a:extLst>
          </p:cNvPr>
          <p:cNvSpPr/>
          <p:nvPr/>
        </p:nvSpPr>
        <p:spPr>
          <a:xfrm>
            <a:off x="9916439" y="8660892"/>
            <a:ext cx="685800" cy="201168"/>
          </a:xfrm>
          <a:prstGeom prst="rect">
            <a:avLst/>
          </a:prstGeom>
          <a:noFill/>
          <a:ln/>
        </p:spPr>
        <p:txBody>
          <a:bodyPr wrap="square" lIns="0" tIns="0" rIns="0" bIns="0" rtlCol="0" anchor="ctr"/>
          <a:lstStyle/>
          <a:p>
            <a:pPr marL="0" indent="0" algn="r">
              <a:buNone/>
            </a:pPr>
            <a:r>
              <a:rPr lang="en-US" sz="1600" dirty="0">
                <a:solidFill>
                  <a:srgbClr val="5C6874"/>
                </a:solidFill>
                <a:latin typeface="Montserrat Bold" panose="00000800000000000000" charset="0"/>
              </a:rPr>
              <a:t>0.723</a:t>
            </a:r>
            <a:endParaRPr lang="en-US" sz="1600" dirty="0">
              <a:latin typeface="Montserrat Bold" panose="00000800000000000000" charset="0"/>
            </a:endParaRPr>
          </a:p>
        </p:txBody>
      </p:sp>
      <p:sp>
        <p:nvSpPr>
          <p:cNvPr id="53" name="Text 15">
            <a:extLst>
              <a:ext uri="{FF2B5EF4-FFF2-40B4-BE49-F238E27FC236}">
                <a16:creationId xmlns:a16="http://schemas.microsoft.com/office/drawing/2014/main" id="{586CA2A0-7367-E150-57E1-65412696709E}"/>
              </a:ext>
            </a:extLst>
          </p:cNvPr>
          <p:cNvSpPr/>
          <p:nvPr/>
        </p:nvSpPr>
        <p:spPr>
          <a:xfrm>
            <a:off x="8687776" y="9019604"/>
            <a:ext cx="1097280" cy="228600"/>
          </a:xfrm>
          <a:prstGeom prst="rect">
            <a:avLst/>
          </a:prstGeom>
          <a:noFill/>
          <a:ln/>
        </p:spPr>
        <p:txBody>
          <a:bodyPr wrap="square" lIns="0" tIns="0" rIns="0" bIns="0" rtlCol="0" anchor="ctr"/>
          <a:lstStyle/>
          <a:p>
            <a:pPr marL="0" indent="0">
              <a:buNone/>
            </a:pPr>
            <a:r>
              <a:rPr lang="en-US" sz="1600" dirty="0">
                <a:solidFill>
                  <a:srgbClr val="5C6874"/>
                </a:solidFill>
                <a:latin typeface="Montserrat Bold" panose="00000800000000000000" charset="0"/>
              </a:rPr>
              <a:t>deployed model</a:t>
            </a:r>
            <a:endParaRPr lang="en-US" sz="1600" dirty="0">
              <a:latin typeface="Montserrat Bold" panose="00000800000000000000" charset="0"/>
            </a:endParaRPr>
          </a:p>
        </p:txBody>
      </p:sp>
      <p:sp>
        <p:nvSpPr>
          <p:cNvPr id="57" name="Text 16">
            <a:extLst>
              <a:ext uri="{FF2B5EF4-FFF2-40B4-BE49-F238E27FC236}">
                <a16:creationId xmlns:a16="http://schemas.microsoft.com/office/drawing/2014/main" id="{3BF7AC5D-47C9-28FF-0FD1-73986A22CF53}"/>
              </a:ext>
            </a:extLst>
          </p:cNvPr>
          <p:cNvSpPr/>
          <p:nvPr/>
        </p:nvSpPr>
        <p:spPr>
          <a:xfrm>
            <a:off x="12920168" y="8633460"/>
            <a:ext cx="1463040" cy="219456"/>
          </a:xfrm>
          <a:prstGeom prst="rect">
            <a:avLst/>
          </a:prstGeom>
          <a:noFill/>
          <a:ln/>
        </p:spPr>
        <p:txBody>
          <a:bodyPr wrap="square" lIns="0" tIns="0" rIns="0" bIns="0" rtlCol="0" anchor="ctr"/>
          <a:lstStyle/>
          <a:p>
            <a:pPr marL="0" indent="0">
              <a:buNone/>
            </a:pPr>
            <a:r>
              <a:rPr lang="en-US" sz="1600" b="1" dirty="0">
                <a:solidFill>
                  <a:srgbClr val="12161A"/>
                </a:solidFill>
                <a:latin typeface="Montserrat Bold" panose="00000800000000000000" charset="0"/>
              </a:rPr>
              <a:t>leaky</a:t>
            </a:r>
            <a:endParaRPr lang="en-US" sz="1600" dirty="0">
              <a:latin typeface="Montserrat Bold" panose="00000800000000000000" charset="0"/>
            </a:endParaRPr>
          </a:p>
        </p:txBody>
      </p:sp>
      <p:sp>
        <p:nvSpPr>
          <p:cNvPr id="60" name="Shape 17">
            <a:extLst>
              <a:ext uri="{FF2B5EF4-FFF2-40B4-BE49-F238E27FC236}">
                <a16:creationId xmlns:a16="http://schemas.microsoft.com/office/drawing/2014/main" id="{1CF539C9-5957-EFB1-3C28-71E66C298AA0}"/>
              </a:ext>
            </a:extLst>
          </p:cNvPr>
          <p:cNvSpPr/>
          <p:nvPr/>
        </p:nvSpPr>
        <p:spPr>
          <a:xfrm>
            <a:off x="13873201" y="8688324"/>
            <a:ext cx="548640" cy="128016"/>
          </a:xfrm>
          <a:prstGeom prst="rect">
            <a:avLst/>
          </a:prstGeom>
          <a:solidFill>
            <a:srgbClr val="DDE4EA"/>
          </a:solidFill>
          <a:ln w="12700">
            <a:solidFill>
              <a:srgbClr val="DDE4EA"/>
            </a:solidFill>
            <a:prstDash val="solid"/>
          </a:ln>
        </p:spPr>
      </p:sp>
      <p:sp>
        <p:nvSpPr>
          <p:cNvPr id="62" name="Shape 18">
            <a:extLst>
              <a:ext uri="{FF2B5EF4-FFF2-40B4-BE49-F238E27FC236}">
                <a16:creationId xmlns:a16="http://schemas.microsoft.com/office/drawing/2014/main" id="{A03F7AD1-8802-8F39-8A63-674EF08EECCA}"/>
              </a:ext>
            </a:extLst>
          </p:cNvPr>
          <p:cNvSpPr/>
          <p:nvPr/>
        </p:nvSpPr>
        <p:spPr>
          <a:xfrm>
            <a:off x="13817042" y="8679180"/>
            <a:ext cx="541934" cy="128016"/>
          </a:xfrm>
          <a:prstGeom prst="rect">
            <a:avLst/>
          </a:prstGeom>
          <a:solidFill>
            <a:srgbClr val="DC3B32"/>
          </a:solidFill>
          <a:ln w="12700">
            <a:solidFill>
              <a:srgbClr val="DC3B32"/>
            </a:solidFill>
            <a:prstDash val="solid"/>
          </a:ln>
        </p:spPr>
      </p:sp>
      <p:sp>
        <p:nvSpPr>
          <p:cNvPr id="64" name="Text 19">
            <a:extLst>
              <a:ext uri="{FF2B5EF4-FFF2-40B4-BE49-F238E27FC236}">
                <a16:creationId xmlns:a16="http://schemas.microsoft.com/office/drawing/2014/main" id="{AD1D07DD-8653-3EF8-D293-4B1C19274A8D}"/>
              </a:ext>
            </a:extLst>
          </p:cNvPr>
          <p:cNvSpPr/>
          <p:nvPr/>
        </p:nvSpPr>
        <p:spPr>
          <a:xfrm>
            <a:off x="14478000" y="8651748"/>
            <a:ext cx="685800" cy="201168"/>
          </a:xfrm>
          <a:prstGeom prst="rect">
            <a:avLst/>
          </a:prstGeom>
          <a:noFill/>
          <a:ln/>
        </p:spPr>
        <p:txBody>
          <a:bodyPr wrap="square" lIns="0" tIns="0" rIns="0" bIns="0" rtlCol="0" anchor="ctr"/>
          <a:lstStyle/>
          <a:p>
            <a:pPr marL="0" indent="0" algn="r">
              <a:buNone/>
            </a:pPr>
            <a:r>
              <a:rPr lang="en-US" sz="1600" dirty="0">
                <a:solidFill>
                  <a:srgbClr val="5C6874"/>
                </a:solidFill>
                <a:latin typeface="Montserrat Bold" panose="00000800000000000000" charset="0"/>
              </a:rPr>
              <a:t>0.889</a:t>
            </a:r>
            <a:endParaRPr lang="en-US" sz="1600" dirty="0">
              <a:latin typeface="Montserrat Bold" panose="00000800000000000000" charset="0"/>
            </a:endParaRPr>
          </a:p>
        </p:txBody>
      </p:sp>
      <p:sp>
        <p:nvSpPr>
          <p:cNvPr id="66" name="Text 20">
            <a:extLst>
              <a:ext uri="{FF2B5EF4-FFF2-40B4-BE49-F238E27FC236}">
                <a16:creationId xmlns:a16="http://schemas.microsoft.com/office/drawing/2014/main" id="{23497B0B-5C7E-E1D8-3ABB-F0632722306D}"/>
              </a:ext>
            </a:extLst>
          </p:cNvPr>
          <p:cNvSpPr/>
          <p:nvPr/>
        </p:nvSpPr>
        <p:spPr>
          <a:xfrm>
            <a:off x="13817042" y="8869871"/>
            <a:ext cx="863525" cy="381000"/>
          </a:xfrm>
          <a:prstGeom prst="rect">
            <a:avLst/>
          </a:prstGeom>
          <a:noFill/>
          <a:ln/>
        </p:spPr>
        <p:txBody>
          <a:bodyPr wrap="square" lIns="0" tIns="0" rIns="0" bIns="0" rtlCol="0" anchor="ctr"/>
          <a:lstStyle/>
          <a:p>
            <a:pPr marL="0" indent="0">
              <a:buNone/>
            </a:pPr>
            <a:r>
              <a:rPr lang="en-US" sz="1600" dirty="0">
                <a:solidFill>
                  <a:srgbClr val="5C6874"/>
                </a:solidFill>
                <a:latin typeface="Montserrat Bold" panose="00000800000000000000" charset="0"/>
              </a:rPr>
              <a:t>invalid</a:t>
            </a:r>
            <a:endParaRPr lang="en-US" sz="1600" dirty="0">
              <a:latin typeface="Montserrat Bold" panose="00000800000000000000" charset="0"/>
            </a:endParaRPr>
          </a:p>
        </p:txBody>
      </p:sp>
      <p:sp>
        <p:nvSpPr>
          <p:cNvPr id="5" name="Text 8">
            <a:extLst>
              <a:ext uri="{FF2B5EF4-FFF2-40B4-BE49-F238E27FC236}">
                <a16:creationId xmlns:a16="http://schemas.microsoft.com/office/drawing/2014/main" id="{BC497061-4236-C24F-D37B-E17B5AFF7D8D}"/>
              </a:ext>
            </a:extLst>
          </p:cNvPr>
          <p:cNvSpPr/>
          <p:nvPr/>
        </p:nvSpPr>
        <p:spPr>
          <a:xfrm>
            <a:off x="17270242" y="9550908"/>
            <a:ext cx="713232" cy="329184"/>
          </a:xfrm>
          <a:prstGeom prst="rect">
            <a:avLst/>
          </a:prstGeom>
          <a:noFill/>
          <a:ln/>
        </p:spPr>
        <p:txBody>
          <a:bodyPr wrap="square" lIns="0" tIns="0" rIns="0" bIns="0" rtlCol="0" anchor="ctr"/>
          <a:lstStyle/>
          <a:p>
            <a:pPr algn="r"/>
            <a:r>
              <a:rPr lang="en-US" sz="1500" b="1" dirty="0">
                <a:solidFill>
                  <a:srgbClr val="5C6874"/>
                </a:solidFill>
              </a:rPr>
              <a:t>6</a:t>
            </a:r>
            <a:endParaRPr lang="en-US" sz="1500" dirty="0"/>
          </a:p>
        </p:txBody>
      </p:sp>
    </p:spTree>
    <p:extLst>
      <p:ext uri="{BB962C8B-B14F-4D97-AF65-F5344CB8AC3E}">
        <p14:creationId xmlns:p14="http://schemas.microsoft.com/office/powerpoint/2010/main" val="351696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466344"/>
            <a:ext cx="11795760" cy="576072"/>
          </a:xfrm>
          <a:prstGeom prst="rect">
            <a:avLst/>
          </a:prstGeom>
          <a:noFill/>
          <a:ln/>
        </p:spPr>
        <p:txBody>
          <a:bodyPr wrap="square" lIns="0" tIns="0" rIns="0" bIns="0" rtlCol="0" anchor="ctr"/>
          <a:lstStyle/>
          <a:p>
            <a:r>
              <a:rPr lang="en-US" sz="4200" b="1" dirty="0">
                <a:solidFill>
                  <a:srgbClr val="12161A"/>
                </a:solidFill>
                <a:latin typeface="Aptos Display" pitchFamily="34" charset="0"/>
                <a:ea typeface="Aptos Display" pitchFamily="34" charset="-122"/>
                <a:cs typeface="Aptos Display" pitchFamily="34" charset="-120"/>
              </a:rPr>
              <a:t>7 · Product demo flow</a:t>
            </a:r>
            <a:endParaRPr lang="en-US" sz="4200" dirty="0"/>
          </a:p>
        </p:txBody>
      </p:sp>
      <p:sp>
        <p:nvSpPr>
          <p:cNvPr id="3" name="Text 1"/>
          <p:cNvSpPr/>
          <p:nvPr/>
        </p:nvSpPr>
        <p:spPr>
          <a:xfrm>
            <a:off x="644652" y="1124712"/>
            <a:ext cx="11932920" cy="411480"/>
          </a:xfrm>
          <a:prstGeom prst="rect">
            <a:avLst/>
          </a:prstGeom>
          <a:noFill/>
          <a:ln/>
        </p:spPr>
        <p:txBody>
          <a:bodyPr wrap="square" lIns="0" tIns="0" rIns="0" bIns="0" rtlCol="0" anchor="ctr"/>
          <a:lstStyle/>
          <a:p>
            <a:r>
              <a:rPr lang="en-US" sz="1650" dirty="0">
                <a:solidFill>
                  <a:srgbClr val="5C6874"/>
                </a:solidFill>
              </a:rPr>
              <a:t>What the user sees in the app</a:t>
            </a:r>
            <a:endParaRPr lang="en-US" sz="1650" dirty="0"/>
          </a:p>
        </p:txBody>
      </p:sp>
      <p:sp>
        <p:nvSpPr>
          <p:cNvPr id="4" name="Shape 2"/>
          <p:cNvSpPr/>
          <p:nvPr/>
        </p:nvSpPr>
        <p:spPr>
          <a:xfrm>
            <a:off x="617220" y="1618488"/>
            <a:ext cx="17076420" cy="0"/>
          </a:xfrm>
          <a:prstGeom prst="line">
            <a:avLst/>
          </a:prstGeom>
          <a:noFill/>
          <a:ln w="12700">
            <a:solidFill>
              <a:srgbClr val="CBD5E1"/>
            </a:solidFill>
            <a:prstDash val="solid"/>
          </a:ln>
        </p:spPr>
      </p:sp>
      <p:sp>
        <p:nvSpPr>
          <p:cNvPr id="5" name="Text 3"/>
          <p:cNvSpPr/>
          <p:nvPr/>
        </p:nvSpPr>
        <p:spPr>
          <a:xfrm>
            <a:off x="891540" y="2125980"/>
            <a:ext cx="3566160" cy="1920240"/>
          </a:xfrm>
          <a:prstGeom prst="rect">
            <a:avLst/>
          </a:prstGeom>
          <a:solidFill>
            <a:srgbClr val="FFFFFF"/>
          </a:solidFill>
          <a:ln w="12700">
            <a:solidFill>
              <a:srgbClr val="FFFFFF"/>
            </a:solidFill>
          </a:ln>
        </p:spPr>
        <p:txBody>
          <a:bodyPr wrap="square" lIns="2286" tIns="2286" rIns="2286" bIns="2286" rtlCol="0" anchor="ctr">
            <a:normAutofit/>
          </a:bodyPr>
          <a:lstStyle/>
          <a:p>
            <a:pPr algn="ctr"/>
            <a:r>
              <a:rPr lang="en-US" sz="2325" dirty="0">
                <a:solidFill>
                  <a:srgbClr val="12161A"/>
                </a:solidFill>
                <a:latin typeface="Aptos" pitchFamily="34" charset="0"/>
                <a:ea typeface="Aptos" pitchFamily="34" charset="-122"/>
                <a:cs typeface="Aptos" pitchFamily="34" charset="-120"/>
              </a:rPr>
              <a:t>Start / destination</a:t>
            </a:r>
            <a:endParaRPr lang="en-US" sz="2325" dirty="0"/>
          </a:p>
          <a:p>
            <a:pPr algn="ctr"/>
            <a:r>
              <a:rPr lang="en-US" sz="2325" dirty="0">
                <a:solidFill>
                  <a:srgbClr val="12161A"/>
                </a:solidFill>
                <a:latin typeface="Aptos" pitchFamily="34" charset="0"/>
                <a:ea typeface="Aptos" pitchFamily="34" charset="-122"/>
                <a:cs typeface="Aptos" pitchFamily="34" charset="-120"/>
              </a:rPr>
              <a:t>Address validation</a:t>
            </a:r>
            <a:endParaRPr lang="en-US" sz="2325" dirty="0"/>
          </a:p>
        </p:txBody>
      </p:sp>
      <p:sp>
        <p:nvSpPr>
          <p:cNvPr id="6" name="Shape 4"/>
          <p:cNvSpPr/>
          <p:nvPr/>
        </p:nvSpPr>
        <p:spPr>
          <a:xfrm>
            <a:off x="4526280" y="3086100"/>
            <a:ext cx="1069848" cy="0"/>
          </a:xfrm>
          <a:prstGeom prst="line">
            <a:avLst/>
          </a:prstGeom>
          <a:noFill/>
          <a:ln w="17780">
            <a:solidFill>
              <a:srgbClr val="5C6874"/>
            </a:solidFill>
            <a:prstDash val="solid"/>
            <a:headEnd type="none"/>
            <a:tailEnd type="triangle"/>
          </a:ln>
        </p:spPr>
      </p:sp>
      <p:sp>
        <p:nvSpPr>
          <p:cNvPr id="7" name="Text 5"/>
          <p:cNvSpPr/>
          <p:nvPr/>
        </p:nvSpPr>
        <p:spPr>
          <a:xfrm>
            <a:off x="5692140" y="2125980"/>
            <a:ext cx="3566160" cy="1920240"/>
          </a:xfrm>
          <a:prstGeom prst="rect">
            <a:avLst/>
          </a:prstGeom>
          <a:solidFill>
            <a:srgbClr val="E8F6EF"/>
          </a:solidFill>
          <a:ln w="12700">
            <a:solidFill>
              <a:srgbClr val="FFFFFF"/>
            </a:solidFill>
          </a:ln>
        </p:spPr>
        <p:txBody>
          <a:bodyPr wrap="square" lIns="2286" tIns="2286" rIns="2286" bIns="2286" rtlCol="0" anchor="ctr">
            <a:normAutofit/>
          </a:bodyPr>
          <a:lstStyle/>
          <a:p>
            <a:pPr algn="ctr"/>
            <a:r>
              <a:rPr lang="en-US" sz="2325" dirty="0">
                <a:solidFill>
                  <a:srgbClr val="12161A"/>
                </a:solidFill>
                <a:latin typeface="Aptos" pitchFamily="34" charset="0"/>
                <a:ea typeface="Aptos" pitchFamily="34" charset="-122"/>
                <a:cs typeface="Aptos" pitchFamily="34" charset="-120"/>
              </a:rPr>
              <a:t>Compare routes</a:t>
            </a:r>
            <a:endParaRPr lang="en-US" sz="2325" dirty="0"/>
          </a:p>
          <a:p>
            <a:pPr algn="ctr"/>
            <a:r>
              <a:rPr lang="en-US" sz="2325" dirty="0">
                <a:solidFill>
                  <a:srgbClr val="12161A"/>
                </a:solidFill>
                <a:latin typeface="Aptos" pitchFamily="34" charset="0"/>
                <a:ea typeface="Aptos" pitchFamily="34" charset="-122"/>
                <a:cs typeface="Aptos" pitchFamily="34" charset="-120"/>
              </a:rPr>
              <a:t>Fastest · Historical GIS · ML road-risk</a:t>
            </a:r>
            <a:endParaRPr lang="en-US" sz="2325" dirty="0"/>
          </a:p>
        </p:txBody>
      </p:sp>
      <p:sp>
        <p:nvSpPr>
          <p:cNvPr id="8" name="Shape 6"/>
          <p:cNvSpPr/>
          <p:nvPr/>
        </p:nvSpPr>
        <p:spPr>
          <a:xfrm>
            <a:off x="9326880" y="3086100"/>
            <a:ext cx="1069848" cy="0"/>
          </a:xfrm>
          <a:prstGeom prst="line">
            <a:avLst/>
          </a:prstGeom>
          <a:noFill/>
          <a:ln w="17780">
            <a:solidFill>
              <a:srgbClr val="5C6874"/>
            </a:solidFill>
            <a:prstDash val="solid"/>
            <a:headEnd type="none"/>
            <a:tailEnd type="triangle"/>
          </a:ln>
        </p:spPr>
      </p:sp>
      <p:sp>
        <p:nvSpPr>
          <p:cNvPr id="9" name="Text 7"/>
          <p:cNvSpPr/>
          <p:nvPr/>
        </p:nvSpPr>
        <p:spPr>
          <a:xfrm>
            <a:off x="10492740" y="2125980"/>
            <a:ext cx="3566160" cy="1920240"/>
          </a:xfrm>
          <a:prstGeom prst="rect">
            <a:avLst/>
          </a:prstGeom>
          <a:solidFill>
            <a:srgbClr val="FFF4D8"/>
          </a:solidFill>
          <a:ln w="12700">
            <a:solidFill>
              <a:srgbClr val="FFFFFF"/>
            </a:solidFill>
          </a:ln>
        </p:spPr>
        <p:txBody>
          <a:bodyPr wrap="square" lIns="2286" tIns="2286" rIns="2286" bIns="2286" rtlCol="0" anchor="ctr">
            <a:normAutofit/>
          </a:bodyPr>
          <a:lstStyle/>
          <a:p>
            <a:pPr algn="ctr"/>
            <a:r>
              <a:rPr lang="en-US" sz="2325" dirty="0">
                <a:solidFill>
                  <a:srgbClr val="12161A"/>
                </a:solidFill>
                <a:latin typeface="Aptos" pitchFamily="34" charset="0"/>
                <a:ea typeface="Aptos" pitchFamily="34" charset="-122"/>
                <a:cs typeface="Aptos" pitchFamily="34" charset="-120"/>
              </a:rPr>
              <a:t>Output</a:t>
            </a:r>
            <a:endParaRPr lang="en-US" sz="2325" dirty="0"/>
          </a:p>
          <a:p>
            <a:pPr algn="ctr"/>
            <a:r>
              <a:rPr lang="en-US" sz="2325" dirty="0">
                <a:solidFill>
                  <a:srgbClr val="12161A"/>
                </a:solidFill>
                <a:latin typeface="Aptos" pitchFamily="34" charset="0"/>
                <a:ea typeface="Aptos" pitchFamily="34" charset="-122"/>
                <a:cs typeface="Aptos" pitchFamily="34" charset="-120"/>
              </a:rPr>
              <a:t>Map + detour + risk reduction</a:t>
            </a:r>
            <a:endParaRPr lang="en-US" sz="2325" dirty="0"/>
          </a:p>
        </p:txBody>
      </p:sp>
      <p:sp>
        <p:nvSpPr>
          <p:cNvPr id="10" name="Shape 8"/>
          <p:cNvSpPr/>
          <p:nvPr/>
        </p:nvSpPr>
        <p:spPr>
          <a:xfrm>
            <a:off x="14127480" y="3086100"/>
            <a:ext cx="1069848" cy="0"/>
          </a:xfrm>
          <a:prstGeom prst="line">
            <a:avLst/>
          </a:prstGeom>
          <a:noFill/>
          <a:ln w="17780">
            <a:solidFill>
              <a:srgbClr val="5C6874"/>
            </a:solidFill>
            <a:prstDash val="solid"/>
            <a:headEnd type="none"/>
            <a:tailEnd type="triangle"/>
          </a:ln>
        </p:spPr>
      </p:sp>
      <p:sp>
        <p:nvSpPr>
          <p:cNvPr id="11" name="Text 9"/>
          <p:cNvSpPr/>
          <p:nvPr/>
        </p:nvSpPr>
        <p:spPr>
          <a:xfrm>
            <a:off x="15156180" y="2125980"/>
            <a:ext cx="2057400" cy="1920240"/>
          </a:xfrm>
          <a:prstGeom prst="rect">
            <a:avLst/>
          </a:prstGeom>
          <a:solidFill>
            <a:srgbClr val="E8F0FE"/>
          </a:solidFill>
          <a:ln w="12700">
            <a:solidFill>
              <a:srgbClr val="FFFFFF"/>
            </a:solidFill>
          </a:ln>
        </p:spPr>
        <p:txBody>
          <a:bodyPr wrap="square" lIns="2286" tIns="2286" rIns="2286" bIns="2286" rtlCol="0" anchor="ctr">
            <a:normAutofit/>
          </a:bodyPr>
          <a:lstStyle/>
          <a:p>
            <a:pPr algn="ctr"/>
            <a:r>
              <a:rPr lang="en-US" sz="2175" dirty="0">
                <a:solidFill>
                  <a:srgbClr val="12161A"/>
                </a:solidFill>
                <a:latin typeface="Aptos" pitchFamily="34" charset="0"/>
                <a:ea typeface="Aptos" pitchFamily="34" charset="-122"/>
                <a:cs typeface="Aptos" pitchFamily="34" charset="-120"/>
              </a:rPr>
              <a:t>Decision</a:t>
            </a:r>
            <a:endParaRPr lang="en-US" sz="2175" dirty="0"/>
          </a:p>
          <a:p>
            <a:pPr algn="ctr"/>
            <a:r>
              <a:rPr lang="en-US" sz="2175" dirty="0">
                <a:solidFill>
                  <a:srgbClr val="12161A"/>
                </a:solidFill>
                <a:latin typeface="Aptos" pitchFamily="34" charset="0"/>
                <a:ea typeface="Aptos" pitchFamily="34" charset="-122"/>
                <a:cs typeface="Aptos" pitchFamily="34" charset="-120"/>
              </a:rPr>
              <a:t>Choose trade-off</a:t>
            </a:r>
            <a:endParaRPr lang="en-US" sz="2175" dirty="0"/>
          </a:p>
        </p:txBody>
      </p:sp>
      <p:sp>
        <p:nvSpPr>
          <p:cNvPr id="12" name="Text 10"/>
          <p:cNvSpPr/>
          <p:nvPr/>
        </p:nvSpPr>
        <p:spPr>
          <a:xfrm>
            <a:off x="1028700" y="5143500"/>
            <a:ext cx="4389120" cy="2400300"/>
          </a:xfrm>
          <a:prstGeom prst="rect">
            <a:avLst/>
          </a:prstGeom>
          <a:solidFill>
            <a:srgbClr val="F4F6F8"/>
          </a:solidFill>
          <a:ln w="12700">
            <a:solidFill>
              <a:srgbClr val="FFFFFF"/>
            </a:solidFill>
          </a:ln>
        </p:spPr>
        <p:txBody>
          <a:bodyPr wrap="square" lIns="2286" tIns="2286" rIns="2286" bIns="2286" rtlCol="0" anchor="ctr">
            <a:normAutofit/>
          </a:bodyPr>
          <a:lstStyle/>
          <a:p>
            <a:pPr algn="ctr"/>
            <a:r>
              <a:rPr lang="en-US" sz="2550" dirty="0">
                <a:solidFill>
                  <a:srgbClr val="12161A"/>
                </a:solidFill>
                <a:latin typeface="Aptos" pitchFamily="34" charset="0"/>
                <a:ea typeface="Aptos" pitchFamily="34" charset="-122"/>
                <a:cs typeface="Aptos" pitchFamily="34" charset="-120"/>
              </a:rPr>
              <a:t>Fastest route</a:t>
            </a:r>
            <a:endParaRPr lang="en-US" sz="2550" dirty="0"/>
          </a:p>
          <a:p>
            <a:pPr algn="ctr"/>
            <a:r>
              <a:rPr lang="en-US" sz="2550" dirty="0">
                <a:solidFill>
                  <a:srgbClr val="12161A"/>
                </a:solidFill>
                <a:latin typeface="Aptos" pitchFamily="34" charset="0"/>
                <a:ea typeface="Aptos" pitchFamily="34" charset="-122"/>
                <a:cs typeface="Aptos" pitchFamily="34" charset="-120"/>
              </a:rPr>
              <a:t>2.82 km</a:t>
            </a:r>
            <a:endParaRPr lang="en-US" sz="2550" dirty="0"/>
          </a:p>
          <a:p>
            <a:pPr algn="ctr"/>
            <a:r>
              <a:rPr lang="en-US" sz="2550" dirty="0">
                <a:solidFill>
                  <a:srgbClr val="12161A"/>
                </a:solidFill>
                <a:latin typeface="Aptos" pitchFamily="34" charset="0"/>
                <a:ea typeface="Aptos" pitchFamily="34" charset="-122"/>
                <a:cs typeface="Aptos" pitchFamily="34" charset="-120"/>
              </a:rPr>
              <a:t>Highest relative risk in example</a:t>
            </a:r>
            <a:endParaRPr lang="en-US" sz="2550" dirty="0"/>
          </a:p>
        </p:txBody>
      </p:sp>
      <p:sp>
        <p:nvSpPr>
          <p:cNvPr id="13" name="Text 11"/>
          <p:cNvSpPr/>
          <p:nvPr/>
        </p:nvSpPr>
        <p:spPr>
          <a:xfrm>
            <a:off x="5966460" y="5143500"/>
            <a:ext cx="4389120" cy="2400300"/>
          </a:xfrm>
          <a:prstGeom prst="rect">
            <a:avLst/>
          </a:prstGeom>
          <a:solidFill>
            <a:srgbClr val="FFF4D8"/>
          </a:solidFill>
          <a:ln w="12700">
            <a:solidFill>
              <a:srgbClr val="FFFFFF"/>
            </a:solidFill>
          </a:ln>
        </p:spPr>
        <p:txBody>
          <a:bodyPr wrap="square" lIns="2286" tIns="2286" rIns="2286" bIns="2286" rtlCol="0" anchor="ctr">
            <a:normAutofit/>
          </a:bodyPr>
          <a:lstStyle/>
          <a:p>
            <a:pPr algn="ctr"/>
            <a:r>
              <a:rPr lang="en-US" sz="2550" dirty="0">
                <a:solidFill>
                  <a:srgbClr val="12161A"/>
                </a:solidFill>
                <a:latin typeface="Aptos" pitchFamily="34" charset="0"/>
                <a:ea typeface="Aptos" pitchFamily="34" charset="-122"/>
                <a:cs typeface="Aptos" pitchFamily="34" charset="-120"/>
              </a:rPr>
              <a:t>Historical-risk route</a:t>
            </a:r>
            <a:endParaRPr lang="en-US" sz="2550" dirty="0"/>
          </a:p>
          <a:p>
            <a:pPr algn="ctr"/>
            <a:r>
              <a:rPr lang="en-US" sz="2550" dirty="0">
                <a:solidFill>
                  <a:srgbClr val="12161A"/>
                </a:solidFill>
                <a:latin typeface="Aptos" pitchFamily="34" charset="0"/>
                <a:ea typeface="Aptos" pitchFamily="34" charset="-122"/>
                <a:cs typeface="Aptos" pitchFamily="34" charset="-120"/>
              </a:rPr>
              <a:t>+0.96 km</a:t>
            </a:r>
            <a:endParaRPr lang="en-US" sz="2550" dirty="0"/>
          </a:p>
          <a:p>
            <a:pPr algn="ctr"/>
            <a:r>
              <a:rPr lang="en-US" sz="2550" dirty="0">
                <a:solidFill>
                  <a:srgbClr val="12161A"/>
                </a:solidFill>
                <a:latin typeface="Aptos" pitchFamily="34" charset="0"/>
                <a:ea typeface="Aptos" pitchFamily="34" charset="-122"/>
                <a:cs typeface="Aptos" pitchFamily="34" charset="-120"/>
              </a:rPr>
              <a:t>53.7% lower historical score</a:t>
            </a:r>
            <a:endParaRPr lang="en-US" sz="2550" dirty="0"/>
          </a:p>
        </p:txBody>
      </p:sp>
      <p:sp>
        <p:nvSpPr>
          <p:cNvPr id="14" name="Text 12"/>
          <p:cNvSpPr/>
          <p:nvPr/>
        </p:nvSpPr>
        <p:spPr>
          <a:xfrm>
            <a:off x="10904220" y="5143500"/>
            <a:ext cx="4389120" cy="2400300"/>
          </a:xfrm>
          <a:prstGeom prst="rect">
            <a:avLst/>
          </a:prstGeom>
          <a:solidFill>
            <a:srgbClr val="E8F6EF"/>
          </a:solidFill>
          <a:ln w="12700">
            <a:solidFill>
              <a:srgbClr val="FFFFFF"/>
            </a:solidFill>
          </a:ln>
        </p:spPr>
        <p:txBody>
          <a:bodyPr wrap="square" lIns="2286" tIns="2286" rIns="2286" bIns="2286" rtlCol="0" anchor="ctr">
            <a:normAutofit/>
          </a:bodyPr>
          <a:lstStyle/>
          <a:p>
            <a:pPr algn="ctr"/>
            <a:r>
              <a:rPr lang="en-US" sz="2550" dirty="0">
                <a:solidFill>
                  <a:srgbClr val="12161A"/>
                </a:solidFill>
                <a:latin typeface="Aptos" pitchFamily="34" charset="0"/>
                <a:ea typeface="Aptos" pitchFamily="34" charset="-122"/>
                <a:cs typeface="Aptos" pitchFamily="34" charset="-120"/>
              </a:rPr>
              <a:t>ML road-risk route</a:t>
            </a:r>
            <a:endParaRPr lang="en-US" sz="2550" dirty="0"/>
          </a:p>
          <a:p>
            <a:pPr algn="ctr"/>
            <a:r>
              <a:rPr lang="en-US" sz="2550" dirty="0">
                <a:solidFill>
                  <a:srgbClr val="12161A"/>
                </a:solidFill>
                <a:latin typeface="Aptos" pitchFamily="34" charset="0"/>
                <a:ea typeface="Aptos" pitchFamily="34" charset="-122"/>
                <a:cs typeface="Aptos" pitchFamily="34" charset="-120"/>
              </a:rPr>
              <a:t>+1.42 km</a:t>
            </a:r>
            <a:endParaRPr lang="en-US" sz="2550" dirty="0"/>
          </a:p>
          <a:p>
            <a:pPr algn="ctr"/>
            <a:r>
              <a:rPr lang="en-US" sz="2550" dirty="0">
                <a:solidFill>
                  <a:srgbClr val="12161A"/>
                </a:solidFill>
                <a:latin typeface="Aptos" pitchFamily="34" charset="0"/>
                <a:ea typeface="Aptos" pitchFamily="34" charset="-122"/>
                <a:cs typeface="Aptos" pitchFamily="34" charset="-120"/>
              </a:rPr>
              <a:t>67.2% lower ML score</a:t>
            </a:r>
            <a:endParaRPr lang="en-US" sz="2550" dirty="0"/>
          </a:p>
        </p:txBody>
      </p:sp>
      <p:sp>
        <p:nvSpPr>
          <p:cNvPr id="15" name="Text 13"/>
          <p:cNvSpPr/>
          <p:nvPr/>
        </p:nvSpPr>
        <p:spPr>
          <a:xfrm>
            <a:off x="1165860" y="8339328"/>
            <a:ext cx="14813280" cy="713232"/>
          </a:xfrm>
          <a:prstGeom prst="rect">
            <a:avLst/>
          </a:prstGeom>
          <a:solidFill>
            <a:srgbClr val="FDE8E6"/>
          </a:solidFill>
          <a:ln w="12700">
            <a:solidFill>
              <a:srgbClr val="FFFFFF"/>
            </a:solidFill>
          </a:ln>
        </p:spPr>
        <p:txBody>
          <a:bodyPr wrap="square" lIns="2286" tIns="2286" rIns="2286" bIns="2286" rtlCol="0" anchor="ctr">
            <a:normAutofit/>
          </a:bodyPr>
          <a:lstStyle/>
          <a:p>
            <a:pPr algn="ctr"/>
            <a:r>
              <a:rPr lang="en-US" altLang="zh-CN" sz="2325" dirty="0">
                <a:solidFill>
                  <a:srgbClr val="12161A"/>
                </a:solidFill>
                <a:latin typeface="Aptos" pitchFamily="34" charset="0"/>
                <a:ea typeface="Aptos" pitchFamily="34" charset="-122"/>
                <a:cs typeface="Aptos" pitchFamily="34" charset="-120"/>
              </a:rPr>
              <a:t>The </a:t>
            </a:r>
            <a:r>
              <a:rPr lang="en-US" sz="2325" dirty="0">
                <a:solidFill>
                  <a:srgbClr val="12161A"/>
                </a:solidFill>
                <a:latin typeface="Aptos" pitchFamily="34" charset="0"/>
                <a:ea typeface="Aptos" pitchFamily="34" charset="-122"/>
                <a:cs typeface="Aptos" pitchFamily="34" charset="-120"/>
              </a:rPr>
              <a:t>percentages are lower model scores, not lower real-world crash probability.</a:t>
            </a:r>
            <a:endParaRPr lang="en-US" sz="2325" dirty="0"/>
          </a:p>
        </p:txBody>
      </p:sp>
      <p:sp>
        <p:nvSpPr>
          <p:cNvPr id="19" name="Text 8">
            <a:extLst>
              <a:ext uri="{FF2B5EF4-FFF2-40B4-BE49-F238E27FC236}">
                <a16:creationId xmlns:a16="http://schemas.microsoft.com/office/drawing/2014/main" id="{67BD2FA5-FB35-D991-DD59-911156186F06}"/>
              </a:ext>
            </a:extLst>
          </p:cNvPr>
          <p:cNvSpPr/>
          <p:nvPr/>
        </p:nvSpPr>
        <p:spPr>
          <a:xfrm>
            <a:off x="17189767" y="9639300"/>
            <a:ext cx="713232" cy="329184"/>
          </a:xfrm>
          <a:prstGeom prst="rect">
            <a:avLst/>
          </a:prstGeom>
          <a:noFill/>
          <a:ln/>
        </p:spPr>
        <p:txBody>
          <a:bodyPr wrap="square" lIns="0" tIns="0" rIns="0" bIns="0" rtlCol="0" anchor="ctr"/>
          <a:lstStyle/>
          <a:p>
            <a:pPr algn="r"/>
            <a:r>
              <a:rPr lang="en-US" sz="1500" b="1" dirty="0">
                <a:solidFill>
                  <a:srgbClr val="5C6874"/>
                </a:solidFill>
              </a:rPr>
              <a:t>7</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466344"/>
            <a:ext cx="11795760" cy="576072"/>
          </a:xfrm>
          <a:prstGeom prst="rect">
            <a:avLst/>
          </a:prstGeom>
          <a:noFill/>
          <a:ln/>
        </p:spPr>
        <p:txBody>
          <a:bodyPr wrap="square" lIns="0" tIns="0" rIns="0" bIns="0" rtlCol="0" anchor="ctr"/>
          <a:lstStyle/>
          <a:p>
            <a:r>
              <a:rPr lang="en-US" sz="4200" b="1" dirty="0">
                <a:solidFill>
                  <a:srgbClr val="12161A"/>
                </a:solidFill>
                <a:latin typeface="Aptos Display" pitchFamily="34" charset="0"/>
                <a:ea typeface="Aptos Display" pitchFamily="34" charset="-122"/>
                <a:cs typeface="Aptos Display" pitchFamily="34" charset="-120"/>
              </a:rPr>
              <a:t>8 · Timeline and current status</a:t>
            </a:r>
            <a:endParaRPr lang="en-US" sz="4200" dirty="0"/>
          </a:p>
        </p:txBody>
      </p:sp>
      <p:sp>
        <p:nvSpPr>
          <p:cNvPr id="3" name="Text 1"/>
          <p:cNvSpPr/>
          <p:nvPr/>
        </p:nvSpPr>
        <p:spPr>
          <a:xfrm>
            <a:off x="644652" y="1124712"/>
            <a:ext cx="11932920" cy="411480"/>
          </a:xfrm>
          <a:prstGeom prst="rect">
            <a:avLst/>
          </a:prstGeom>
          <a:noFill/>
          <a:ln/>
        </p:spPr>
        <p:txBody>
          <a:bodyPr wrap="square" lIns="0" tIns="0" rIns="0" bIns="0" rtlCol="0" anchor="ctr"/>
          <a:lstStyle/>
          <a:p>
            <a:r>
              <a:rPr sz="2700"/>
              <a:t>Week 2 status: working pipeline, stronger validation, clearer risks</a:t>
            </a:r>
            <a:endParaRPr lang="en-US" sz="1650" dirty="0"/>
          </a:p>
        </p:txBody>
      </p:sp>
      <p:sp>
        <p:nvSpPr>
          <p:cNvPr id="4" name="Shape 2"/>
          <p:cNvSpPr/>
          <p:nvPr/>
        </p:nvSpPr>
        <p:spPr>
          <a:xfrm>
            <a:off x="617220" y="1618488"/>
            <a:ext cx="17076420" cy="0"/>
          </a:xfrm>
          <a:prstGeom prst="line">
            <a:avLst/>
          </a:prstGeom>
          <a:noFill/>
          <a:ln w="12700">
            <a:solidFill>
              <a:srgbClr val="CBD5E1"/>
            </a:solidFill>
            <a:prstDash val="solid"/>
          </a:ln>
        </p:spPr>
      </p:sp>
      <p:sp>
        <p:nvSpPr>
          <p:cNvPr id="5" name="Text 3"/>
          <p:cNvSpPr/>
          <p:nvPr/>
        </p:nvSpPr>
        <p:spPr>
          <a:xfrm>
            <a:off x="1028700" y="2263140"/>
            <a:ext cx="3497580" cy="4114800"/>
          </a:xfrm>
          <a:prstGeom prst="rect">
            <a:avLst/>
          </a:prstGeom>
          <a:solidFill>
            <a:srgbClr val="E8F6EF"/>
          </a:solidFill>
          <a:ln w="12700">
            <a:solidFill>
              <a:srgbClr val="FFFFFF"/>
            </a:solidFill>
          </a:ln>
        </p:spPr>
        <p:txBody>
          <a:bodyPr wrap="square" lIns="2286" tIns="2286" rIns="2286" bIns="2286" rtlCol="0" anchor="ctr">
            <a:normAutofit/>
          </a:bodyPr>
          <a:lstStyle/>
          <a:p>
            <a:pPr algn="ctr">
              <a:spcAft>
                <a:spcPts val="1200"/>
              </a:spcAft>
            </a:pPr>
            <a:r>
              <a:rPr sz="2550" b="1" dirty="0"/>
              <a:t>Week 1</a:t>
            </a:r>
            <a:br>
              <a:rPr sz="2700" dirty="0"/>
            </a:br>
            <a:r>
              <a:rPr sz="2550" b="1" dirty="0"/>
              <a:t>Data foundation</a:t>
            </a:r>
            <a:endParaRPr lang="en-US" sz="2400" dirty="0"/>
          </a:p>
          <a:p>
            <a:pPr algn="ctr">
              <a:defRPr/>
            </a:pPr>
            <a:r>
              <a:rPr lang="en-US" altLang="zh-CN" sz="2400" dirty="0">
                <a:solidFill>
                  <a:srgbClr val="12161A"/>
                </a:solidFill>
                <a:latin typeface="Aptos" pitchFamily="34" charset="0"/>
              </a:rPr>
              <a:t>Problem framing</a:t>
            </a:r>
          </a:p>
          <a:p>
            <a:pPr algn="ctr">
              <a:defRPr/>
            </a:pPr>
            <a:r>
              <a:rPr lang="en-US" altLang="zh-CN" sz="2400" dirty="0" err="1">
                <a:solidFill>
                  <a:srgbClr val="12161A"/>
                </a:solidFill>
                <a:latin typeface="Aptos" pitchFamily="34" charset="0"/>
              </a:rPr>
              <a:t>Unfallatlas</a:t>
            </a:r>
            <a:r>
              <a:rPr lang="en-US" altLang="zh-CN" sz="2400" dirty="0">
                <a:solidFill>
                  <a:srgbClr val="12161A"/>
                </a:solidFill>
                <a:latin typeface="Aptos" pitchFamily="34" charset="0"/>
              </a:rPr>
              <a:t> EDA</a:t>
            </a:r>
          </a:p>
          <a:p>
            <a:pPr algn="ctr">
              <a:defRPr/>
            </a:pPr>
            <a:r>
              <a:rPr lang="en-US" altLang="zh-CN" sz="2400" dirty="0">
                <a:solidFill>
                  <a:srgbClr val="12161A"/>
                </a:solidFill>
                <a:latin typeface="Aptos" pitchFamily="34" charset="0"/>
              </a:rPr>
              <a:t>OSM data loading</a:t>
            </a:r>
          </a:p>
        </p:txBody>
      </p:sp>
      <p:sp>
        <p:nvSpPr>
          <p:cNvPr id="6" name="Shape 4"/>
          <p:cNvSpPr/>
          <p:nvPr/>
        </p:nvSpPr>
        <p:spPr>
          <a:xfrm>
            <a:off x="4526280" y="4320540"/>
            <a:ext cx="617220" cy="0"/>
          </a:xfrm>
          <a:prstGeom prst="line">
            <a:avLst/>
          </a:prstGeom>
          <a:noFill/>
          <a:ln w="17780">
            <a:solidFill>
              <a:srgbClr val="5C6874"/>
            </a:solidFill>
            <a:prstDash val="solid"/>
            <a:headEnd type="none"/>
            <a:tailEnd type="triangle"/>
          </a:ln>
        </p:spPr>
      </p:sp>
      <p:sp>
        <p:nvSpPr>
          <p:cNvPr id="7" name="Text 5"/>
          <p:cNvSpPr/>
          <p:nvPr/>
        </p:nvSpPr>
        <p:spPr>
          <a:xfrm>
            <a:off x="5212080" y="2263140"/>
            <a:ext cx="3497580" cy="4114800"/>
          </a:xfrm>
          <a:prstGeom prst="rect">
            <a:avLst/>
          </a:prstGeom>
          <a:solidFill>
            <a:srgbClr val="E8F6EF"/>
          </a:solidFill>
          <a:ln w="12700">
            <a:solidFill>
              <a:srgbClr val="FFFFFF"/>
            </a:solidFill>
          </a:ln>
        </p:spPr>
        <p:txBody>
          <a:bodyPr wrap="square" lIns="2286" tIns="2286" rIns="2286" bIns="2286" rtlCol="0" anchor="ctr">
            <a:normAutofit/>
          </a:bodyPr>
          <a:lstStyle/>
          <a:p>
            <a:pPr algn="ctr">
              <a:spcAft>
                <a:spcPts val="1200"/>
              </a:spcAft>
            </a:pPr>
            <a:r>
              <a:rPr sz="2550" b="1" dirty="0"/>
              <a:t>Week 2</a:t>
            </a:r>
            <a:br>
              <a:rPr sz="2700" dirty="0"/>
            </a:br>
            <a:r>
              <a:rPr sz="2550" b="1" dirty="0"/>
              <a:t>Core product</a:t>
            </a:r>
            <a:endParaRPr lang="en-US" sz="2400" dirty="0"/>
          </a:p>
          <a:p>
            <a:pPr>
              <a:spcAft>
                <a:spcPts val="450"/>
              </a:spcAft>
            </a:pPr>
            <a:r>
              <a:rPr dirty="0"/>
              <a:t>Full </a:t>
            </a:r>
            <a:r>
              <a:rPr dirty="0" err="1"/>
              <a:t>src</a:t>
            </a:r>
            <a:r>
              <a:rPr dirty="0"/>
              <a:t> package + run_pipeline.py</a:t>
            </a:r>
          </a:p>
          <a:p>
            <a:pPr>
              <a:spcAft>
                <a:spcPts val="450"/>
              </a:spcAft>
            </a:pPr>
            <a:r>
              <a:rPr dirty="0" err="1"/>
              <a:t>Streamlit</a:t>
            </a:r>
            <a:r>
              <a:rPr dirty="0"/>
              <a:t> app and route engine</a:t>
            </a:r>
          </a:p>
          <a:p>
            <a:pPr>
              <a:spcAft>
                <a:spcPts val="450"/>
              </a:spcAft>
            </a:pPr>
            <a:r>
              <a:rPr dirty="0"/>
              <a:t>Fastest vs historical vs ML routes</a:t>
            </a:r>
          </a:p>
          <a:p>
            <a:pPr>
              <a:spcAft>
                <a:spcPts val="450"/>
              </a:spcAft>
            </a:pPr>
            <a:r>
              <a:rPr dirty="0"/>
              <a:t>Exposure </a:t>
            </a:r>
            <a:r>
              <a:rPr dirty="0" err="1"/>
              <a:t>normalisation</a:t>
            </a:r>
            <a:r>
              <a:rPr dirty="0"/>
              <a:t> added</a:t>
            </a:r>
          </a:p>
        </p:txBody>
      </p:sp>
      <p:sp>
        <p:nvSpPr>
          <p:cNvPr id="8" name="Shape 6"/>
          <p:cNvSpPr/>
          <p:nvPr/>
        </p:nvSpPr>
        <p:spPr>
          <a:xfrm>
            <a:off x="8709660" y="4320540"/>
            <a:ext cx="617220" cy="0"/>
          </a:xfrm>
          <a:prstGeom prst="line">
            <a:avLst/>
          </a:prstGeom>
          <a:noFill/>
          <a:ln w="17780">
            <a:solidFill>
              <a:srgbClr val="5C6874"/>
            </a:solidFill>
            <a:prstDash val="solid"/>
            <a:headEnd type="none"/>
            <a:tailEnd type="triangle"/>
          </a:ln>
        </p:spPr>
      </p:sp>
      <p:sp>
        <p:nvSpPr>
          <p:cNvPr id="9" name="Text 7"/>
          <p:cNvSpPr/>
          <p:nvPr/>
        </p:nvSpPr>
        <p:spPr>
          <a:xfrm>
            <a:off x="9376955" y="2263140"/>
            <a:ext cx="3497580" cy="4114800"/>
          </a:xfrm>
          <a:prstGeom prst="rect">
            <a:avLst/>
          </a:prstGeom>
          <a:solidFill>
            <a:schemeClr val="accent4">
              <a:lumMod val="40000"/>
              <a:lumOff val="60000"/>
            </a:schemeClr>
          </a:solidFill>
          <a:ln w="12700">
            <a:solidFill>
              <a:srgbClr val="FFFFFF"/>
            </a:solidFill>
          </a:ln>
        </p:spPr>
        <p:txBody>
          <a:bodyPr wrap="square" lIns="2286" tIns="2286" rIns="2286" bIns="2286" rtlCol="0" anchor="ctr">
            <a:normAutofit/>
          </a:bodyPr>
          <a:lstStyle/>
          <a:p>
            <a:pPr algn="ctr">
              <a:spcAft>
                <a:spcPts val="1200"/>
              </a:spcAft>
            </a:pPr>
            <a:r>
              <a:rPr sz="2550" b="1" dirty="0"/>
              <a:t>Week </a:t>
            </a:r>
            <a:r>
              <a:rPr lang="en-US" sz="2550" b="1" dirty="0"/>
              <a:t>3</a:t>
            </a:r>
            <a:br>
              <a:rPr sz="2700" dirty="0"/>
            </a:br>
            <a:r>
              <a:rPr sz="2550" b="1" dirty="0"/>
              <a:t>Risk  ML proof</a:t>
            </a:r>
            <a:endParaRPr lang="en-US" sz="2400" dirty="0"/>
          </a:p>
          <a:p>
            <a:pPr>
              <a:spcAft>
                <a:spcPts val="450"/>
              </a:spcAft>
            </a:pPr>
            <a:r>
              <a:rPr sz="1620" dirty="0" err="1"/>
              <a:t>BASt</a:t>
            </a:r>
            <a:r>
              <a:rPr sz="1620" dirty="0"/>
              <a:t> severity weights + shrinkage</a:t>
            </a:r>
          </a:p>
          <a:p>
            <a:pPr>
              <a:spcAft>
                <a:spcPts val="450"/>
              </a:spcAft>
            </a:pPr>
            <a:r>
              <a:rPr sz="1620" dirty="0"/>
              <a:t>Node/link accidents partitioned</a:t>
            </a:r>
          </a:p>
          <a:p>
            <a:pPr>
              <a:spcAft>
                <a:spcPts val="450"/>
              </a:spcAft>
            </a:pPr>
            <a:r>
              <a:rPr sz="1620" dirty="0"/>
              <a:t>3 algorithms, 5-fold CV</a:t>
            </a:r>
          </a:p>
          <a:p>
            <a:pPr>
              <a:spcAft>
                <a:spcPts val="450"/>
              </a:spcAft>
            </a:pPr>
            <a:r>
              <a:rPr sz="1620" dirty="0"/>
              <a:t>Best PR-AUC: 0.863 vs 0.245</a:t>
            </a:r>
          </a:p>
        </p:txBody>
      </p:sp>
      <p:sp>
        <p:nvSpPr>
          <p:cNvPr id="10" name="Shape 8"/>
          <p:cNvSpPr/>
          <p:nvPr/>
        </p:nvSpPr>
        <p:spPr>
          <a:xfrm>
            <a:off x="12893040" y="4320540"/>
            <a:ext cx="617220" cy="0"/>
          </a:xfrm>
          <a:prstGeom prst="line">
            <a:avLst/>
          </a:prstGeom>
          <a:noFill/>
          <a:ln w="17780">
            <a:solidFill>
              <a:srgbClr val="5C6874"/>
            </a:solidFill>
            <a:prstDash val="solid"/>
            <a:headEnd type="none"/>
            <a:tailEnd type="triangle"/>
          </a:ln>
        </p:spPr>
      </p:sp>
      <p:sp>
        <p:nvSpPr>
          <p:cNvPr id="16" name="Text 13"/>
          <p:cNvSpPr/>
          <p:nvPr/>
        </p:nvSpPr>
        <p:spPr>
          <a:xfrm>
            <a:off x="617220" y="9848088"/>
            <a:ext cx="7406640" cy="246888"/>
          </a:xfrm>
          <a:prstGeom prst="rect">
            <a:avLst/>
          </a:prstGeom>
          <a:noFill/>
          <a:ln/>
        </p:spPr>
        <p:txBody>
          <a:bodyPr wrap="square" lIns="0" tIns="0" rIns="0" bIns="0" rtlCol="0" anchor="ctr"/>
          <a:lstStyle/>
          <a:p>
            <a:r>
              <a:rPr lang="en-US" sz="1125" dirty="0">
                <a:solidFill>
                  <a:srgbClr val="5C6874"/>
                </a:solidFill>
              </a:rPr>
              <a:t>2W1C · Defensible bicycle safety routing</a:t>
            </a:r>
            <a:endParaRPr lang="en-US" sz="1125" dirty="0"/>
          </a:p>
        </p:txBody>
      </p:sp>
      <p:sp>
        <p:nvSpPr>
          <p:cNvPr id="17" name="Text 14"/>
          <p:cNvSpPr/>
          <p:nvPr/>
        </p:nvSpPr>
        <p:spPr>
          <a:xfrm>
            <a:off x="17100232" y="9642348"/>
            <a:ext cx="713232" cy="329184"/>
          </a:xfrm>
          <a:prstGeom prst="rect">
            <a:avLst/>
          </a:prstGeom>
          <a:noFill/>
          <a:ln/>
        </p:spPr>
        <p:txBody>
          <a:bodyPr wrap="square" lIns="0" tIns="0" rIns="0" bIns="0" rtlCol="0" anchor="ctr"/>
          <a:lstStyle/>
          <a:p>
            <a:pPr algn="r"/>
            <a:r>
              <a:rPr lang="en-US" sz="1500" b="1" dirty="0">
                <a:solidFill>
                  <a:srgbClr val="5C6874"/>
                </a:solidFill>
              </a:rPr>
              <a:t>08</a:t>
            </a:r>
            <a:endParaRPr lang="en-US" sz="1500" dirty="0"/>
          </a:p>
        </p:txBody>
      </p:sp>
      <p:sp>
        <p:nvSpPr>
          <p:cNvPr id="20" name="Text 9">
            <a:extLst>
              <a:ext uri="{FF2B5EF4-FFF2-40B4-BE49-F238E27FC236}">
                <a16:creationId xmlns:a16="http://schemas.microsoft.com/office/drawing/2014/main" id="{7539F463-D855-F702-BAE7-99F4EB865058}"/>
              </a:ext>
            </a:extLst>
          </p:cNvPr>
          <p:cNvSpPr/>
          <p:nvPr/>
        </p:nvSpPr>
        <p:spPr>
          <a:xfrm>
            <a:off x="13578840" y="2263140"/>
            <a:ext cx="3497580" cy="4114800"/>
          </a:xfrm>
          <a:prstGeom prst="rect">
            <a:avLst/>
          </a:prstGeom>
          <a:solidFill>
            <a:schemeClr val="accent4">
              <a:lumMod val="40000"/>
              <a:lumOff val="60000"/>
            </a:schemeClr>
          </a:solidFill>
          <a:ln w="12700">
            <a:solidFill>
              <a:srgbClr val="FFFFFF"/>
            </a:solidFill>
          </a:ln>
        </p:spPr>
        <p:txBody>
          <a:bodyPr wrap="square" lIns="2286" tIns="2286" rIns="2286" bIns="2286" rtlCol="0" anchor="ctr">
            <a:normAutofit/>
          </a:bodyPr>
          <a:lstStyle/>
          <a:p>
            <a:pPr algn="ctr">
              <a:spcAft>
                <a:spcPts val="1200"/>
              </a:spcAft>
            </a:pPr>
            <a:r>
              <a:rPr lang="en-US" sz="2550" b="1" dirty="0"/>
              <a:t>Week 4</a:t>
            </a:r>
          </a:p>
          <a:p>
            <a:pPr algn="ctr"/>
            <a:r>
              <a:rPr lang="en-US" sz="2400" dirty="0" err="1">
                <a:solidFill>
                  <a:srgbClr val="12161A"/>
                </a:solidFill>
                <a:latin typeface="Aptos" pitchFamily="34" charset="0"/>
                <a:ea typeface="Aptos" pitchFamily="34" charset="-122"/>
                <a:cs typeface="Aptos" pitchFamily="34" charset="-120"/>
              </a:rPr>
              <a:t>Streamlit</a:t>
            </a:r>
            <a:r>
              <a:rPr lang="en-US" sz="2400" dirty="0">
                <a:solidFill>
                  <a:srgbClr val="12161A"/>
                </a:solidFill>
                <a:latin typeface="Aptos" pitchFamily="34" charset="0"/>
                <a:ea typeface="Aptos" pitchFamily="34" charset="-122"/>
                <a:cs typeface="Aptos" pitchFamily="34" charset="-120"/>
              </a:rPr>
              <a:t> app</a:t>
            </a:r>
            <a:endParaRPr lang="en-US" sz="2400" dirty="0"/>
          </a:p>
          <a:p>
            <a:pPr algn="ctr"/>
            <a:r>
              <a:rPr lang="en-US" sz="2400" dirty="0">
                <a:solidFill>
                  <a:srgbClr val="12161A"/>
                </a:solidFill>
                <a:latin typeface="Aptos" pitchFamily="34" charset="0"/>
                <a:ea typeface="Aptos" pitchFamily="34" charset="-122"/>
                <a:cs typeface="Aptos" pitchFamily="34" charset="-120"/>
              </a:rPr>
              <a:t>Demo polish</a:t>
            </a:r>
            <a:endParaRPr lang="en-US" sz="2400" dirty="0"/>
          </a:p>
        </p:txBody>
      </p:sp>
      <p:sp>
        <p:nvSpPr>
          <p:cNvPr id="22" name="Text 10">
            <a:extLst>
              <a:ext uri="{FF2B5EF4-FFF2-40B4-BE49-F238E27FC236}">
                <a16:creationId xmlns:a16="http://schemas.microsoft.com/office/drawing/2014/main" id="{BE80AA19-BD6A-E6A8-0557-921F839E0049}"/>
              </a:ext>
            </a:extLst>
          </p:cNvPr>
          <p:cNvSpPr/>
          <p:nvPr/>
        </p:nvSpPr>
        <p:spPr>
          <a:xfrm>
            <a:off x="1371600" y="7338060"/>
            <a:ext cx="4526280" cy="1234440"/>
          </a:xfrm>
          <a:prstGeom prst="rect">
            <a:avLst/>
          </a:prstGeom>
          <a:solidFill>
            <a:srgbClr val="E8F6EF"/>
          </a:solidFill>
          <a:ln w="12700">
            <a:solidFill>
              <a:srgbClr val="FFFFFF"/>
            </a:solidFill>
          </a:ln>
        </p:spPr>
        <p:txBody>
          <a:bodyPr wrap="square" lIns="2286" tIns="2286" rIns="2286" bIns="2286" rtlCol="0" anchor="ctr">
            <a:normAutofit/>
          </a:bodyPr>
          <a:lstStyle/>
          <a:p>
            <a:pPr algn="ctr"/>
            <a:r>
              <a:rPr lang="en-US" sz="2325" dirty="0">
                <a:solidFill>
                  <a:srgbClr val="12161A"/>
                </a:solidFill>
                <a:latin typeface="Aptos" pitchFamily="34" charset="0"/>
                <a:ea typeface="Aptos" pitchFamily="34" charset="-122"/>
                <a:cs typeface="Aptos" pitchFamily="34" charset="-120"/>
              </a:rPr>
              <a:t>Done</a:t>
            </a:r>
            <a:endParaRPr lang="en-US" sz="2325" dirty="0"/>
          </a:p>
          <a:p>
            <a:pPr algn="ctr"/>
            <a:r>
              <a:rPr lang="en-US" sz="2325" dirty="0">
                <a:solidFill>
                  <a:srgbClr val="12161A"/>
                </a:solidFill>
                <a:latin typeface="Aptos" pitchFamily="34" charset="0"/>
                <a:ea typeface="Aptos" pitchFamily="34" charset="-122"/>
                <a:cs typeface="Aptos" pitchFamily="34" charset="-120"/>
              </a:rPr>
              <a:t>Pipeline + GIS baseline + leakage-safe model + app</a:t>
            </a:r>
            <a:endParaRPr lang="en-US" sz="2325" dirty="0"/>
          </a:p>
        </p:txBody>
      </p:sp>
      <p:sp>
        <p:nvSpPr>
          <p:cNvPr id="26" name="Text 12">
            <a:extLst>
              <a:ext uri="{FF2B5EF4-FFF2-40B4-BE49-F238E27FC236}">
                <a16:creationId xmlns:a16="http://schemas.microsoft.com/office/drawing/2014/main" id="{DB763B73-8626-3F62-AC6B-F55C47458755}"/>
              </a:ext>
            </a:extLst>
          </p:cNvPr>
          <p:cNvSpPr/>
          <p:nvPr/>
        </p:nvSpPr>
        <p:spPr>
          <a:xfrm>
            <a:off x="11932920" y="7338060"/>
            <a:ext cx="5143500" cy="1234440"/>
          </a:xfrm>
          <a:prstGeom prst="rect">
            <a:avLst/>
          </a:prstGeom>
          <a:solidFill>
            <a:srgbClr val="E8F0FE"/>
          </a:solidFill>
          <a:ln w="12700">
            <a:solidFill>
              <a:srgbClr val="FFFFFF"/>
            </a:solidFill>
          </a:ln>
        </p:spPr>
        <p:txBody>
          <a:bodyPr wrap="square" lIns="2286" tIns="2286" rIns="2286" bIns="2286" rtlCol="0" anchor="ctr">
            <a:normAutofit fontScale="92500" lnSpcReduction="20000"/>
          </a:bodyPr>
          <a:lstStyle/>
          <a:p>
            <a:pPr algn="ctr"/>
            <a:r>
              <a:rPr lang="en-US" sz="2550" dirty="0">
                <a:solidFill>
                  <a:srgbClr val="12161A"/>
                </a:solidFill>
                <a:latin typeface="Aptos" pitchFamily="34" charset="0"/>
              </a:rPr>
              <a:t>Next</a:t>
            </a:r>
          </a:p>
          <a:p>
            <a:pPr algn="ctr"/>
            <a:r>
              <a:rPr lang="en-US" sz="2550" dirty="0">
                <a:solidFill>
                  <a:srgbClr val="12161A"/>
                </a:solidFill>
                <a:latin typeface="Aptos" pitchFamily="34" charset="0"/>
              </a:rPr>
              <a:t>Forward validation, </a:t>
            </a:r>
          </a:p>
          <a:p>
            <a:pPr algn="ctr"/>
            <a:r>
              <a:rPr lang="en-US" sz="2550" dirty="0">
                <a:solidFill>
                  <a:srgbClr val="12161A"/>
                </a:solidFill>
                <a:latin typeface="Aptos" pitchFamily="34" charset="0"/>
              </a:rPr>
              <a:t>Performance improvement, exposure data</a:t>
            </a:r>
          </a:p>
        </p:txBody>
      </p:sp>
      <p:sp>
        <p:nvSpPr>
          <p:cNvPr id="28" name="Text 7">
            <a:extLst>
              <a:ext uri="{FF2B5EF4-FFF2-40B4-BE49-F238E27FC236}">
                <a16:creationId xmlns:a16="http://schemas.microsoft.com/office/drawing/2014/main" id="{147FD842-9613-1E60-BC33-3B1D12EFB0FF}"/>
              </a:ext>
            </a:extLst>
          </p:cNvPr>
          <p:cNvSpPr/>
          <p:nvPr/>
        </p:nvSpPr>
        <p:spPr>
          <a:xfrm>
            <a:off x="9395460" y="2263140"/>
            <a:ext cx="3497580" cy="4114800"/>
          </a:xfrm>
          <a:prstGeom prst="rect">
            <a:avLst/>
          </a:prstGeom>
          <a:solidFill>
            <a:schemeClr val="accent4">
              <a:lumMod val="40000"/>
              <a:lumOff val="60000"/>
            </a:schemeClr>
          </a:solidFill>
          <a:ln w="12700">
            <a:solidFill>
              <a:srgbClr val="FFFFFF"/>
            </a:solidFill>
          </a:ln>
        </p:spPr>
        <p:txBody>
          <a:bodyPr wrap="square" lIns="2286" tIns="2286" rIns="2286" bIns="2286" rtlCol="0" anchor="ctr">
            <a:normAutofit/>
          </a:bodyPr>
          <a:lstStyle/>
          <a:p>
            <a:pPr algn="ctr">
              <a:spcAft>
                <a:spcPts val="1200"/>
              </a:spcAft>
            </a:pPr>
            <a:r>
              <a:rPr lang="en-US" sz="2550" b="1" dirty="0"/>
              <a:t>Week 3</a:t>
            </a:r>
          </a:p>
          <a:p>
            <a:pPr algn="ctr"/>
            <a:r>
              <a:rPr lang="en-US" sz="2400" dirty="0">
                <a:solidFill>
                  <a:srgbClr val="12161A"/>
                </a:solidFill>
                <a:latin typeface="Aptos" pitchFamily="34" charset="0"/>
              </a:rPr>
              <a:t>Leakage audit</a:t>
            </a:r>
          </a:p>
          <a:p>
            <a:pPr algn="ctr"/>
            <a:r>
              <a:rPr lang="en-US" sz="2400" dirty="0">
                <a:solidFill>
                  <a:srgbClr val="12161A"/>
                </a:solidFill>
                <a:latin typeface="Aptos" pitchFamily="34" charset="0"/>
              </a:rPr>
              <a:t>Negative sampling fix</a:t>
            </a:r>
          </a:p>
          <a:p>
            <a:pPr algn="ctr"/>
            <a:r>
              <a:rPr lang="en-US" sz="2400" dirty="0">
                <a:solidFill>
                  <a:srgbClr val="12161A"/>
                </a:solidFill>
                <a:latin typeface="Aptos" pitchFamily="34" charset="0"/>
              </a:rPr>
              <a:t>ML comparison</a:t>
            </a:r>
          </a:p>
        </p:txBody>
      </p:sp>
      <p:sp>
        <p:nvSpPr>
          <p:cNvPr id="30" name="Shape 4">
            <a:extLst>
              <a:ext uri="{FF2B5EF4-FFF2-40B4-BE49-F238E27FC236}">
                <a16:creationId xmlns:a16="http://schemas.microsoft.com/office/drawing/2014/main" id="{78ABCB4D-2859-AC29-6C62-1A6CCCE166C0}"/>
              </a:ext>
            </a:extLst>
          </p:cNvPr>
          <p:cNvSpPr/>
          <p:nvPr/>
        </p:nvSpPr>
        <p:spPr>
          <a:xfrm>
            <a:off x="6137365" y="7880169"/>
            <a:ext cx="5543006" cy="0"/>
          </a:xfrm>
          <a:prstGeom prst="line">
            <a:avLst/>
          </a:prstGeom>
          <a:noFill/>
          <a:ln w="17780">
            <a:solidFill>
              <a:srgbClr val="5C6874"/>
            </a:solidFill>
            <a:prstDash val="solid"/>
            <a:headEnd type="none"/>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466344"/>
            <a:ext cx="11795760" cy="576072"/>
          </a:xfrm>
          <a:prstGeom prst="rect">
            <a:avLst/>
          </a:prstGeom>
          <a:noFill/>
          <a:ln/>
        </p:spPr>
        <p:txBody>
          <a:bodyPr wrap="square" lIns="0" tIns="0" rIns="0" bIns="0" rtlCol="0" anchor="ctr"/>
          <a:lstStyle/>
          <a:p>
            <a:r>
              <a:rPr lang="en-US" sz="4200" b="1" dirty="0">
                <a:solidFill>
                  <a:srgbClr val="12161A"/>
                </a:solidFill>
                <a:latin typeface="Aptos Display" pitchFamily="34" charset="0"/>
                <a:ea typeface="Aptos Display" pitchFamily="34" charset="-122"/>
                <a:cs typeface="Aptos Display" pitchFamily="34" charset="-120"/>
              </a:rPr>
              <a:t>9 · Future work and difficulties</a:t>
            </a:r>
            <a:endParaRPr lang="en-US" sz="4200" dirty="0"/>
          </a:p>
        </p:txBody>
      </p:sp>
      <p:sp>
        <p:nvSpPr>
          <p:cNvPr id="3" name="Text 1"/>
          <p:cNvSpPr/>
          <p:nvPr/>
        </p:nvSpPr>
        <p:spPr>
          <a:xfrm>
            <a:off x="644652" y="1124712"/>
            <a:ext cx="11932920" cy="411480"/>
          </a:xfrm>
          <a:prstGeom prst="rect">
            <a:avLst/>
          </a:prstGeom>
          <a:noFill/>
          <a:ln/>
        </p:spPr>
        <p:txBody>
          <a:bodyPr wrap="square" lIns="0" tIns="0" rIns="0" bIns="0" rtlCol="0" anchor="ctr"/>
          <a:lstStyle/>
          <a:p>
            <a:r>
              <a:rPr sz="2400">
                <a:solidFill>
                  <a:srgbClr val="53606E"/>
                </a:solidFill>
              </a:rPr>
              <a:t>What would make the prototype stronger and harder to break</a:t>
            </a:r>
          </a:p>
        </p:txBody>
      </p:sp>
      <p:sp>
        <p:nvSpPr>
          <p:cNvPr id="4" name="Shape 2"/>
          <p:cNvSpPr/>
          <p:nvPr/>
        </p:nvSpPr>
        <p:spPr>
          <a:xfrm>
            <a:off x="617220" y="1618488"/>
            <a:ext cx="17076420" cy="0"/>
          </a:xfrm>
          <a:prstGeom prst="line">
            <a:avLst/>
          </a:prstGeom>
          <a:noFill/>
          <a:ln w="12700">
            <a:solidFill>
              <a:srgbClr val="CBD5E1"/>
            </a:solidFill>
            <a:prstDash val="solid"/>
          </a:ln>
        </p:spPr>
        <p:txBody>
          <a:bodyPr/>
          <a:lstStyle/>
          <a:p>
            <a:endParaRPr sz="2700"/>
          </a:p>
        </p:txBody>
      </p:sp>
      <p:sp>
        <p:nvSpPr>
          <p:cNvPr id="12" name="Rounded Rectangle 11"/>
          <p:cNvSpPr/>
          <p:nvPr/>
        </p:nvSpPr>
        <p:spPr>
          <a:xfrm>
            <a:off x="891540" y="2125980"/>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Rectangle 12"/>
          <p:cNvSpPr/>
          <p:nvPr/>
        </p:nvSpPr>
        <p:spPr>
          <a:xfrm>
            <a:off x="891540" y="2125980"/>
            <a:ext cx="109728" cy="1892808"/>
          </a:xfrm>
          <a:prstGeom prst="rect">
            <a:avLst/>
          </a:prstGeom>
          <a:solidFill>
            <a:srgbClr val="12A5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193292" y="2345437"/>
            <a:ext cx="2569934" cy="507831"/>
          </a:xfrm>
          <a:prstGeom prst="rect">
            <a:avLst/>
          </a:prstGeom>
          <a:noFill/>
        </p:spPr>
        <p:txBody>
          <a:bodyPr wrap="none">
            <a:spAutoFit/>
          </a:bodyPr>
          <a:lstStyle/>
          <a:p>
            <a:pPr>
              <a:defRPr sz="1800" b="1">
                <a:solidFill>
                  <a:srgbClr val="181D24"/>
                </a:solidFill>
                <a:latin typeface="Arial"/>
              </a:defRPr>
            </a:pPr>
            <a:r>
              <a:rPr sz="2700"/>
              <a:t>Exposure data</a:t>
            </a:r>
          </a:p>
        </p:txBody>
      </p:sp>
      <p:sp>
        <p:nvSpPr>
          <p:cNvPr id="15" name="TextBox 14"/>
          <p:cNvSpPr txBox="1"/>
          <p:nvPr/>
        </p:nvSpPr>
        <p:spPr>
          <a:xfrm>
            <a:off x="1193292" y="2839212"/>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Add bicycle-volume data to separate risk from traffic volume.</a:t>
            </a:r>
          </a:p>
        </p:txBody>
      </p:sp>
      <p:sp>
        <p:nvSpPr>
          <p:cNvPr id="16" name="Rounded Rectangle 15"/>
          <p:cNvSpPr/>
          <p:nvPr/>
        </p:nvSpPr>
        <p:spPr>
          <a:xfrm>
            <a:off x="6638544" y="2125980"/>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ectangle 16"/>
          <p:cNvSpPr/>
          <p:nvPr/>
        </p:nvSpPr>
        <p:spPr>
          <a:xfrm>
            <a:off x="6638544" y="2125980"/>
            <a:ext cx="109728" cy="1892808"/>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6940297" y="2345437"/>
            <a:ext cx="1954381" cy="507831"/>
          </a:xfrm>
          <a:prstGeom prst="rect">
            <a:avLst/>
          </a:prstGeom>
          <a:noFill/>
        </p:spPr>
        <p:txBody>
          <a:bodyPr wrap="none">
            <a:spAutoFit/>
          </a:bodyPr>
          <a:lstStyle/>
          <a:p>
            <a:pPr>
              <a:defRPr sz="1800" b="1">
                <a:solidFill>
                  <a:srgbClr val="181D24"/>
                </a:solidFill>
                <a:latin typeface="Arial"/>
              </a:defRPr>
            </a:pPr>
            <a:r>
              <a:rPr sz="2700"/>
              <a:t>App speed</a:t>
            </a:r>
          </a:p>
        </p:txBody>
      </p:sp>
      <p:sp>
        <p:nvSpPr>
          <p:cNvPr id="19" name="TextBox 18"/>
          <p:cNvSpPr txBox="1"/>
          <p:nvPr/>
        </p:nvSpPr>
        <p:spPr>
          <a:xfrm>
            <a:off x="6940296" y="2839212"/>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Current routing can take &gt;2 min; cache graph costs and precompute risks.</a:t>
            </a:r>
          </a:p>
        </p:txBody>
      </p:sp>
      <p:sp>
        <p:nvSpPr>
          <p:cNvPr id="20" name="Rounded Rectangle 19"/>
          <p:cNvSpPr/>
          <p:nvPr/>
        </p:nvSpPr>
        <p:spPr>
          <a:xfrm>
            <a:off x="12385548" y="2125980"/>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Rectangle 20"/>
          <p:cNvSpPr/>
          <p:nvPr/>
        </p:nvSpPr>
        <p:spPr>
          <a:xfrm>
            <a:off x="12385548" y="2125980"/>
            <a:ext cx="109728" cy="18928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2687300" y="2345437"/>
            <a:ext cx="2242922" cy="507831"/>
          </a:xfrm>
          <a:prstGeom prst="rect">
            <a:avLst/>
          </a:prstGeom>
          <a:noFill/>
        </p:spPr>
        <p:txBody>
          <a:bodyPr wrap="none">
            <a:spAutoFit/>
          </a:bodyPr>
          <a:lstStyle/>
          <a:p>
            <a:pPr>
              <a:defRPr sz="1800" b="1">
                <a:solidFill>
                  <a:srgbClr val="181D24"/>
                </a:solidFill>
                <a:latin typeface="Arial"/>
              </a:defRPr>
            </a:pPr>
            <a:r>
              <a:rPr sz="2700"/>
              <a:t>User reports</a:t>
            </a:r>
          </a:p>
        </p:txBody>
      </p:sp>
      <p:sp>
        <p:nvSpPr>
          <p:cNvPr id="23" name="TextBox 22"/>
          <p:cNvSpPr txBox="1"/>
          <p:nvPr/>
        </p:nvSpPr>
        <p:spPr>
          <a:xfrm>
            <a:off x="12687300" y="2839212"/>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Let cyclists upload unreported crashes and near misses.</a:t>
            </a:r>
          </a:p>
        </p:txBody>
      </p:sp>
      <p:sp>
        <p:nvSpPr>
          <p:cNvPr id="24" name="Rounded Rectangle 23"/>
          <p:cNvSpPr/>
          <p:nvPr/>
        </p:nvSpPr>
        <p:spPr>
          <a:xfrm>
            <a:off x="891540" y="4402836"/>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ectangle 24"/>
          <p:cNvSpPr/>
          <p:nvPr/>
        </p:nvSpPr>
        <p:spPr>
          <a:xfrm>
            <a:off x="891540" y="4402836"/>
            <a:ext cx="109728" cy="1892808"/>
          </a:xfrm>
          <a:prstGeom prst="rect">
            <a:avLst/>
          </a:prstGeom>
          <a:solidFill>
            <a:srgbClr val="12A5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193293" y="4622293"/>
            <a:ext cx="1781257" cy="507831"/>
          </a:xfrm>
          <a:prstGeom prst="rect">
            <a:avLst/>
          </a:prstGeom>
          <a:noFill/>
        </p:spPr>
        <p:txBody>
          <a:bodyPr wrap="none">
            <a:spAutoFit/>
          </a:bodyPr>
          <a:lstStyle/>
          <a:p>
            <a:pPr>
              <a:defRPr sz="1800" b="1">
                <a:solidFill>
                  <a:srgbClr val="181D24"/>
                </a:solidFill>
                <a:latin typeface="Arial"/>
              </a:defRPr>
            </a:pPr>
            <a:r>
              <a:rPr sz="2700"/>
              <a:t>Better ML</a:t>
            </a:r>
          </a:p>
        </p:txBody>
      </p:sp>
      <p:sp>
        <p:nvSpPr>
          <p:cNvPr id="27" name="TextBox 26"/>
          <p:cNvSpPr txBox="1"/>
          <p:nvPr/>
        </p:nvSpPr>
        <p:spPr>
          <a:xfrm>
            <a:off x="1193292" y="5116068"/>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Compare more models and ensembles to improve valid PR-AUC.</a:t>
            </a:r>
          </a:p>
        </p:txBody>
      </p:sp>
      <p:sp>
        <p:nvSpPr>
          <p:cNvPr id="28" name="Rounded Rectangle 27"/>
          <p:cNvSpPr/>
          <p:nvPr/>
        </p:nvSpPr>
        <p:spPr>
          <a:xfrm>
            <a:off x="6638544" y="4402836"/>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ectangle 28"/>
          <p:cNvSpPr/>
          <p:nvPr/>
        </p:nvSpPr>
        <p:spPr>
          <a:xfrm>
            <a:off x="6638544" y="4402836"/>
            <a:ext cx="109728" cy="1892808"/>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6940297" y="4622293"/>
            <a:ext cx="2794483" cy="507831"/>
          </a:xfrm>
          <a:prstGeom prst="rect">
            <a:avLst/>
          </a:prstGeom>
          <a:noFill/>
        </p:spPr>
        <p:txBody>
          <a:bodyPr wrap="none">
            <a:spAutoFit/>
          </a:bodyPr>
          <a:lstStyle/>
          <a:p>
            <a:pPr>
              <a:defRPr sz="1800" b="1">
                <a:solidFill>
                  <a:srgbClr val="181D24"/>
                </a:solidFill>
                <a:latin typeface="Arial"/>
              </a:defRPr>
            </a:pPr>
            <a:r>
              <a:rPr sz="2700"/>
              <a:t>Time-aware risk</a:t>
            </a:r>
          </a:p>
        </p:txBody>
      </p:sp>
      <p:sp>
        <p:nvSpPr>
          <p:cNvPr id="31" name="TextBox 30"/>
          <p:cNvSpPr txBox="1"/>
          <p:nvPr/>
        </p:nvSpPr>
        <p:spPr>
          <a:xfrm>
            <a:off x="6940296" y="5116069"/>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Use hour as severity modifier only when data supports it.</a:t>
            </a:r>
          </a:p>
        </p:txBody>
      </p:sp>
      <p:sp>
        <p:nvSpPr>
          <p:cNvPr id="32" name="Rounded Rectangle 31"/>
          <p:cNvSpPr/>
          <p:nvPr/>
        </p:nvSpPr>
        <p:spPr>
          <a:xfrm>
            <a:off x="12385548" y="4402836"/>
            <a:ext cx="5280660" cy="1892808"/>
          </a:xfrm>
          <a:prstGeom prst="roundRect">
            <a:avLst/>
          </a:prstGeom>
          <a:solidFill>
            <a:srgbClr val="FAFCFD"/>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ectangle 32"/>
          <p:cNvSpPr/>
          <p:nvPr/>
        </p:nvSpPr>
        <p:spPr>
          <a:xfrm>
            <a:off x="12385548" y="4402836"/>
            <a:ext cx="109728" cy="1892808"/>
          </a:xfrm>
          <a:prstGeom prst="rect">
            <a:avLst/>
          </a:prstGeom>
          <a:solidFill>
            <a:srgbClr val="DC3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12687301" y="4622293"/>
            <a:ext cx="1819857" cy="507831"/>
          </a:xfrm>
          <a:prstGeom prst="rect">
            <a:avLst/>
          </a:prstGeom>
          <a:noFill/>
        </p:spPr>
        <p:txBody>
          <a:bodyPr wrap="none">
            <a:spAutoFit/>
          </a:bodyPr>
          <a:lstStyle/>
          <a:p>
            <a:pPr>
              <a:defRPr sz="1800" b="1">
                <a:solidFill>
                  <a:srgbClr val="181D24"/>
                </a:solidFill>
                <a:latin typeface="Arial"/>
              </a:defRPr>
            </a:pPr>
            <a:r>
              <a:rPr sz="2700"/>
              <a:t>Validation</a:t>
            </a:r>
          </a:p>
        </p:txBody>
      </p:sp>
      <p:sp>
        <p:nvSpPr>
          <p:cNvPr id="35" name="TextBox 34"/>
          <p:cNvSpPr txBox="1"/>
          <p:nvPr/>
        </p:nvSpPr>
        <p:spPr>
          <a:xfrm>
            <a:off x="12687300" y="5116068"/>
            <a:ext cx="4759452" cy="598947"/>
          </a:xfrm>
          <a:prstGeom prst="rect">
            <a:avLst/>
          </a:prstGeom>
          <a:noFill/>
        </p:spPr>
        <p:txBody>
          <a:bodyPr wrap="square" lIns="0" tIns="0" rIns="0" bIns="0">
            <a:spAutoFit/>
          </a:bodyPr>
          <a:lstStyle/>
          <a:p>
            <a:pPr>
              <a:lnSpc>
                <a:spcPct val="105000"/>
              </a:lnSpc>
              <a:defRPr sz="1280">
                <a:solidFill>
                  <a:srgbClr val="53606E"/>
                </a:solidFill>
                <a:latin typeface="Arial"/>
              </a:defRPr>
            </a:pPr>
            <a:r>
              <a:rPr sz="1920"/>
              <a:t>Test whether past high-risk streets predict future crashes.</a:t>
            </a:r>
          </a:p>
        </p:txBody>
      </p:sp>
      <p:sp>
        <p:nvSpPr>
          <p:cNvPr id="36" name="Rounded Rectangle 35"/>
          <p:cNvSpPr/>
          <p:nvPr/>
        </p:nvSpPr>
        <p:spPr>
          <a:xfrm>
            <a:off x="891540" y="6377940"/>
            <a:ext cx="16527780" cy="1399032"/>
          </a:xfrm>
          <a:prstGeom prst="roundRect">
            <a:avLst/>
          </a:prstGeom>
          <a:solidFill>
            <a:srgbClr val="F5F8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1303020" y="6830568"/>
            <a:ext cx="246888" cy="246888"/>
          </a:xfrm>
          <a:prstGeom prst="ellipse">
            <a:avLst/>
          </a:prstGeom>
          <a:solidFill>
            <a:srgbClr val="DC3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714500" y="6624828"/>
            <a:ext cx="15087600" cy="784830"/>
          </a:xfrm>
          <a:prstGeom prst="rect">
            <a:avLst/>
          </a:prstGeom>
          <a:noFill/>
        </p:spPr>
        <p:txBody>
          <a:bodyPr wrap="square">
            <a:spAutoFit/>
          </a:bodyPr>
          <a:lstStyle/>
          <a:p>
            <a:pPr>
              <a:defRPr sz="1500" b="1">
                <a:solidFill>
                  <a:srgbClr val="181D24"/>
                </a:solidFill>
                <a:latin typeface="Arial"/>
              </a:defRPr>
            </a:pPr>
            <a:r>
              <a:rPr lang="en-US" altLang="zh-CN" sz="2250" dirty="0"/>
              <a:t>I</a:t>
            </a:r>
            <a:r>
              <a:rPr sz="2250" dirty="0"/>
              <a:t>mprove the product without overclaiming — route scores are relative model evidence, not real-world crash probabilities.</a:t>
            </a:r>
          </a:p>
        </p:txBody>
      </p:sp>
      <p:sp>
        <p:nvSpPr>
          <p:cNvPr id="6" name="Text 8">
            <a:extLst>
              <a:ext uri="{FF2B5EF4-FFF2-40B4-BE49-F238E27FC236}">
                <a16:creationId xmlns:a16="http://schemas.microsoft.com/office/drawing/2014/main" id="{F31D0A32-52BA-3557-CA51-1389B6259702}"/>
              </a:ext>
            </a:extLst>
          </p:cNvPr>
          <p:cNvSpPr/>
          <p:nvPr/>
        </p:nvSpPr>
        <p:spPr>
          <a:xfrm>
            <a:off x="17090136" y="9563100"/>
            <a:ext cx="713232" cy="329184"/>
          </a:xfrm>
          <a:prstGeom prst="rect">
            <a:avLst/>
          </a:prstGeom>
          <a:noFill/>
          <a:ln/>
        </p:spPr>
        <p:txBody>
          <a:bodyPr wrap="square" lIns="0" tIns="0" rIns="0" bIns="0" rtlCol="0" anchor="ctr"/>
          <a:lstStyle/>
          <a:p>
            <a:pPr algn="r"/>
            <a:r>
              <a:rPr lang="en-US" sz="1500" b="1" dirty="0">
                <a:solidFill>
                  <a:srgbClr val="5C6874"/>
                </a:solidFill>
              </a:rPr>
              <a:t>09</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466344"/>
            <a:ext cx="11795760" cy="576072"/>
          </a:xfrm>
          <a:prstGeom prst="rect">
            <a:avLst/>
          </a:prstGeom>
          <a:noFill/>
          <a:ln/>
        </p:spPr>
        <p:txBody>
          <a:bodyPr wrap="square" lIns="0" tIns="0" rIns="0" bIns="0" rtlCol="0" anchor="ctr"/>
          <a:lstStyle/>
          <a:p>
            <a:r>
              <a:rPr lang="en-US" sz="4200" b="1" dirty="0">
                <a:solidFill>
                  <a:srgbClr val="12161A"/>
                </a:solidFill>
                <a:latin typeface="Aptos Display" pitchFamily="34" charset="0"/>
                <a:ea typeface="Aptos Display" pitchFamily="34" charset="-122"/>
                <a:cs typeface="Aptos Display" pitchFamily="34" charset="-120"/>
              </a:rPr>
              <a:t>10 · Takeaway</a:t>
            </a:r>
            <a:endParaRPr lang="en-US" sz="4200" dirty="0"/>
          </a:p>
        </p:txBody>
      </p:sp>
      <p:sp>
        <p:nvSpPr>
          <p:cNvPr id="3" name="Text 1"/>
          <p:cNvSpPr/>
          <p:nvPr/>
        </p:nvSpPr>
        <p:spPr>
          <a:xfrm>
            <a:off x="644652" y="1124712"/>
            <a:ext cx="11932920" cy="411480"/>
          </a:xfrm>
          <a:prstGeom prst="rect">
            <a:avLst/>
          </a:prstGeom>
          <a:noFill/>
          <a:ln/>
        </p:spPr>
        <p:txBody>
          <a:bodyPr wrap="square" lIns="0" tIns="0" rIns="0" bIns="0" rtlCol="0" anchor="ctr"/>
          <a:lstStyle/>
          <a:p>
            <a:r>
              <a:rPr sz="2700"/>
              <a:t>A working prototype, a stronger model story, and a clear civic motivation</a:t>
            </a:r>
            <a:endParaRPr lang="en-US" sz="1650" dirty="0"/>
          </a:p>
        </p:txBody>
      </p:sp>
      <p:sp>
        <p:nvSpPr>
          <p:cNvPr id="4" name="Shape 2"/>
          <p:cNvSpPr/>
          <p:nvPr/>
        </p:nvSpPr>
        <p:spPr>
          <a:xfrm>
            <a:off x="617220" y="1618488"/>
            <a:ext cx="17076420" cy="0"/>
          </a:xfrm>
          <a:prstGeom prst="line">
            <a:avLst/>
          </a:prstGeom>
          <a:noFill/>
          <a:ln w="12700">
            <a:solidFill>
              <a:srgbClr val="CBD5E1"/>
            </a:solidFill>
            <a:prstDash val="solid"/>
          </a:ln>
        </p:spPr>
      </p:sp>
      <p:sp>
        <p:nvSpPr>
          <p:cNvPr id="5" name="Text 3"/>
          <p:cNvSpPr/>
          <p:nvPr/>
        </p:nvSpPr>
        <p:spPr>
          <a:xfrm>
            <a:off x="1200150" y="2345438"/>
            <a:ext cx="4389120" cy="4937760"/>
          </a:xfrm>
          <a:prstGeom prst="rect">
            <a:avLst/>
          </a:prstGeom>
          <a:solidFill>
            <a:srgbClr val="E8F6EF"/>
          </a:solidFill>
          <a:ln w="12700">
            <a:solidFill>
              <a:srgbClr val="FFFFFF"/>
            </a:solidFill>
          </a:ln>
        </p:spPr>
        <p:txBody>
          <a:bodyPr wrap="square" lIns="2286" tIns="2286" rIns="2286" bIns="2286" rtlCol="0" anchor="ctr">
            <a:normAutofit/>
          </a:bodyPr>
          <a:lstStyle/>
          <a:p>
            <a:pPr algn="ctr">
              <a:spcAft>
                <a:spcPts val="1200"/>
              </a:spcAft>
            </a:pPr>
            <a:r>
              <a:rPr sz="2850" b="1" dirty="0"/>
              <a:t>What we built</a:t>
            </a:r>
            <a:endParaRPr lang="en-US" sz="2850" b="1" dirty="0"/>
          </a:p>
          <a:p>
            <a:pPr algn="ctr">
              <a:spcAft>
                <a:spcPts val="1200"/>
              </a:spcAft>
            </a:pPr>
            <a:endParaRPr lang="en-US" sz="2700" dirty="0"/>
          </a:p>
          <a:p>
            <a:pPr>
              <a:spcAft>
                <a:spcPts val="450"/>
              </a:spcAft>
            </a:pPr>
            <a:r>
              <a:rPr sz="2400" dirty="0">
                <a:solidFill>
                  <a:srgbClr val="12161A"/>
                </a:solidFill>
                <a:latin typeface="Aptos" pitchFamily="34" charset="0"/>
              </a:rPr>
              <a:t>A Berlin bike-routing MVP</a:t>
            </a:r>
          </a:p>
          <a:p>
            <a:pPr>
              <a:spcAft>
                <a:spcPts val="450"/>
              </a:spcAft>
            </a:pPr>
            <a:r>
              <a:rPr sz="2400" dirty="0">
                <a:solidFill>
                  <a:srgbClr val="12161A"/>
                </a:solidFill>
                <a:latin typeface="Aptos" pitchFamily="34" charset="0"/>
              </a:rPr>
              <a:t>Fastest, historical-risk and ML routes</a:t>
            </a:r>
          </a:p>
          <a:p>
            <a:pPr>
              <a:spcAft>
                <a:spcPts val="450"/>
              </a:spcAft>
            </a:pPr>
            <a:r>
              <a:rPr sz="2400" dirty="0">
                <a:solidFill>
                  <a:srgbClr val="12161A"/>
                </a:solidFill>
                <a:latin typeface="Aptos" pitchFamily="34" charset="0"/>
              </a:rPr>
              <a:t>Address validation + demo-ready app</a:t>
            </a:r>
          </a:p>
        </p:txBody>
      </p:sp>
      <p:sp>
        <p:nvSpPr>
          <p:cNvPr id="6" name="Text 4"/>
          <p:cNvSpPr/>
          <p:nvPr/>
        </p:nvSpPr>
        <p:spPr>
          <a:xfrm>
            <a:off x="5829300" y="2263140"/>
            <a:ext cx="4389120" cy="4937760"/>
          </a:xfrm>
          <a:prstGeom prst="rect">
            <a:avLst/>
          </a:prstGeom>
          <a:solidFill>
            <a:srgbClr val="FFF4D8"/>
          </a:solidFill>
          <a:ln w="12700">
            <a:solidFill>
              <a:srgbClr val="FFFFFF"/>
            </a:solidFill>
          </a:ln>
        </p:spPr>
        <p:txBody>
          <a:bodyPr wrap="square" lIns="2286" tIns="2286" rIns="2286" bIns="2286" rtlCol="0" anchor="ctr">
            <a:normAutofit/>
          </a:bodyPr>
          <a:lstStyle/>
          <a:p>
            <a:pPr algn="ctr">
              <a:spcAft>
                <a:spcPts val="1200"/>
              </a:spcAft>
            </a:pPr>
            <a:r>
              <a:rPr lang="en-US" sz="2850" b="1" dirty="0"/>
              <a:t>What we learned</a:t>
            </a:r>
          </a:p>
          <a:p>
            <a:pPr algn="ctr">
              <a:spcAft>
                <a:spcPts val="1200"/>
              </a:spcAft>
            </a:pPr>
            <a:endParaRPr lang="en-US" sz="2850" b="1" dirty="0"/>
          </a:p>
          <a:p>
            <a:pPr>
              <a:spcAft>
                <a:spcPts val="450"/>
              </a:spcAft>
            </a:pPr>
            <a:r>
              <a:rPr sz="2400" dirty="0">
                <a:solidFill>
                  <a:srgbClr val="12161A"/>
                </a:solidFill>
                <a:latin typeface="Aptos" pitchFamily="34" charset="0"/>
              </a:rPr>
              <a:t>Historical risk predicts future crash concentration</a:t>
            </a:r>
          </a:p>
          <a:p>
            <a:pPr>
              <a:spcAft>
                <a:spcPts val="450"/>
              </a:spcAft>
            </a:pPr>
            <a:r>
              <a:rPr sz="2400" dirty="0">
                <a:solidFill>
                  <a:srgbClr val="12161A"/>
                </a:solidFill>
                <a:latin typeface="Aptos" pitchFamily="34" charset="0"/>
              </a:rPr>
              <a:t>Leakage was found and removed</a:t>
            </a:r>
          </a:p>
          <a:p>
            <a:pPr>
              <a:spcAft>
                <a:spcPts val="450"/>
              </a:spcAft>
            </a:pPr>
            <a:r>
              <a:rPr sz="2400" dirty="0">
                <a:solidFill>
                  <a:srgbClr val="12161A"/>
                </a:solidFill>
                <a:latin typeface="Aptos" pitchFamily="34" charset="0"/>
              </a:rPr>
              <a:t>Risk scores are model evidence, not crash probabilities</a:t>
            </a:r>
          </a:p>
        </p:txBody>
      </p:sp>
      <p:sp>
        <p:nvSpPr>
          <p:cNvPr id="7" name="Text 5"/>
          <p:cNvSpPr/>
          <p:nvPr/>
        </p:nvSpPr>
        <p:spPr>
          <a:xfrm>
            <a:off x="10698481" y="2263139"/>
            <a:ext cx="4497977" cy="5020058"/>
          </a:xfrm>
          <a:prstGeom prst="rect">
            <a:avLst/>
          </a:prstGeom>
          <a:solidFill>
            <a:srgbClr val="E8F0FE"/>
          </a:solidFill>
          <a:ln w="12700">
            <a:solidFill>
              <a:srgbClr val="FFFFFF"/>
            </a:solidFill>
          </a:ln>
        </p:spPr>
        <p:txBody>
          <a:bodyPr wrap="square" lIns="2286" tIns="2286" rIns="2286" bIns="2286" rtlCol="0" anchor="ctr">
            <a:normAutofit/>
          </a:bodyPr>
          <a:lstStyle/>
          <a:p>
            <a:pPr algn="ctr">
              <a:spcAft>
                <a:spcPts val="1200"/>
              </a:spcAft>
            </a:pPr>
            <a:r>
              <a:rPr sz="2850" b="1" dirty="0"/>
              <a:t>Outlook</a:t>
            </a:r>
            <a:endParaRPr lang="en-US" sz="2850" b="1" dirty="0"/>
          </a:p>
          <a:p>
            <a:pPr algn="ctr">
              <a:spcAft>
                <a:spcPts val="1200"/>
              </a:spcAft>
            </a:pPr>
            <a:endParaRPr lang="en-US" sz="2700" dirty="0"/>
          </a:p>
          <a:p>
            <a:pPr>
              <a:spcAft>
                <a:spcPts val="450"/>
              </a:spcAft>
            </a:pPr>
            <a:r>
              <a:rPr sz="2400" dirty="0">
                <a:solidFill>
                  <a:srgbClr val="12161A"/>
                </a:solidFill>
                <a:latin typeface="Aptos" pitchFamily="34" charset="0"/>
              </a:rPr>
              <a:t>Make the app faster and easier to use</a:t>
            </a:r>
          </a:p>
          <a:p>
            <a:pPr>
              <a:spcAft>
                <a:spcPts val="450"/>
              </a:spcAft>
            </a:pPr>
            <a:r>
              <a:rPr sz="2400" dirty="0">
                <a:solidFill>
                  <a:srgbClr val="12161A"/>
                </a:solidFill>
                <a:latin typeface="Aptos" pitchFamily="34" charset="0"/>
              </a:rPr>
              <a:t>Add user-reported, unreported crashes</a:t>
            </a:r>
          </a:p>
          <a:p>
            <a:pPr>
              <a:spcAft>
                <a:spcPts val="450"/>
              </a:spcAft>
            </a:pPr>
            <a:r>
              <a:rPr sz="2400" dirty="0">
                <a:solidFill>
                  <a:srgbClr val="12161A"/>
                </a:solidFill>
                <a:latin typeface="Aptos" pitchFamily="34" charset="0"/>
              </a:rPr>
              <a:t>Compare and combine more ML models</a:t>
            </a:r>
          </a:p>
        </p:txBody>
      </p:sp>
      <p:sp>
        <p:nvSpPr>
          <p:cNvPr id="11" name="Text 8"/>
          <p:cNvSpPr/>
          <p:nvPr/>
        </p:nvSpPr>
        <p:spPr>
          <a:xfrm>
            <a:off x="16952976" y="9779508"/>
            <a:ext cx="713232" cy="329184"/>
          </a:xfrm>
          <a:prstGeom prst="rect">
            <a:avLst/>
          </a:prstGeom>
          <a:noFill/>
          <a:ln/>
        </p:spPr>
        <p:txBody>
          <a:bodyPr wrap="square" lIns="0" tIns="0" rIns="0" bIns="0" rtlCol="0" anchor="ctr"/>
          <a:lstStyle/>
          <a:p>
            <a:pPr algn="r"/>
            <a:r>
              <a:rPr lang="en-US" sz="1500" b="1" dirty="0">
                <a:solidFill>
                  <a:srgbClr val="5C6874"/>
                </a:solidFill>
              </a:rPr>
              <a:t>10</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0872C25-1F83-70C4-7FB8-A15E1E653BFA}"/>
              </a:ext>
            </a:extLst>
          </p:cNvPr>
          <p:cNvPicPr>
            <a:picLocks noChangeAspect="1"/>
          </p:cNvPicPr>
          <p:nvPr/>
        </p:nvPicPr>
        <p:blipFill>
          <a:blip r:embed="rId2"/>
          <a:stretch>
            <a:fillRect/>
          </a:stretch>
        </p:blipFill>
        <p:spPr>
          <a:xfrm>
            <a:off x="266700" y="365335"/>
            <a:ext cx="17754600" cy="9700334"/>
          </a:xfrm>
          <a:prstGeom prst="rect">
            <a:avLst/>
          </a:prstGeom>
        </p:spPr>
      </p:pic>
      <p:pic>
        <p:nvPicPr>
          <p:cNvPr id="7" name="图片 6">
            <a:extLst>
              <a:ext uri="{FF2B5EF4-FFF2-40B4-BE49-F238E27FC236}">
                <a16:creationId xmlns:a16="http://schemas.microsoft.com/office/drawing/2014/main" id="{676D6D49-DBFD-37CD-ED2D-12D3A94ECBDF}"/>
              </a:ext>
            </a:extLst>
          </p:cNvPr>
          <p:cNvPicPr>
            <a:picLocks noChangeAspect="1"/>
          </p:cNvPicPr>
          <p:nvPr/>
        </p:nvPicPr>
        <p:blipFill>
          <a:blip r:embed="rId3"/>
          <a:stretch>
            <a:fillRect/>
          </a:stretch>
        </p:blipFill>
        <p:spPr>
          <a:xfrm>
            <a:off x="4672503" y="514320"/>
            <a:ext cx="8575410" cy="1377396"/>
          </a:xfrm>
          <a:prstGeom prst="rect">
            <a:avLst/>
          </a:prstGeom>
        </p:spPr>
      </p:pic>
      <p:sp>
        <p:nvSpPr>
          <p:cNvPr id="9" name="Text 6">
            <a:extLst>
              <a:ext uri="{FF2B5EF4-FFF2-40B4-BE49-F238E27FC236}">
                <a16:creationId xmlns:a16="http://schemas.microsoft.com/office/drawing/2014/main" id="{8C4E466F-9BA7-C4BD-1ECF-90C4ED31C2A9}"/>
              </a:ext>
            </a:extLst>
          </p:cNvPr>
          <p:cNvSpPr/>
          <p:nvPr/>
        </p:nvSpPr>
        <p:spPr>
          <a:xfrm>
            <a:off x="4549140" y="9367893"/>
            <a:ext cx="9189720" cy="685800"/>
          </a:xfrm>
          <a:prstGeom prst="rect">
            <a:avLst/>
          </a:prstGeom>
          <a:noFill/>
          <a:ln/>
        </p:spPr>
        <p:txBody>
          <a:bodyPr wrap="square" lIns="0" tIns="0" rIns="0" bIns="0" rtlCol="0" anchor="ctr"/>
          <a:lstStyle/>
          <a:p>
            <a:pPr algn="ctr"/>
            <a:r>
              <a:rPr sz="6000" b="1" dirty="0"/>
              <a:t>Thank you</a:t>
            </a:r>
            <a:endParaRPr lang="en-US" sz="6000" b="1" dirty="0"/>
          </a:p>
        </p:txBody>
      </p:sp>
    </p:spTree>
    <p:extLst>
      <p:ext uri="{BB962C8B-B14F-4D97-AF65-F5344CB8AC3E}">
        <p14:creationId xmlns:p14="http://schemas.microsoft.com/office/powerpoint/2010/main" val="2056330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TotalTime>
  <Words>1544</Words>
  <Application>Microsoft Office PowerPoint</Application>
  <PresentationFormat>Custom</PresentationFormat>
  <Paragraphs>254</Paragraphs>
  <Slides>12</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Montserrat </vt:lpstr>
      <vt:lpstr>Poppins</vt:lpstr>
      <vt:lpstr>Montserrat</vt:lpstr>
      <vt:lpstr>Arial</vt:lpstr>
      <vt:lpstr>Calibri</vt:lpstr>
      <vt:lpstr>Red Hat Display Bold</vt:lpstr>
      <vt:lpstr>Aptos</vt:lpstr>
      <vt:lpstr>Aptos Display</vt:lpstr>
      <vt:lpstr>Montserrat Bold</vt:lpstr>
      <vt:lpstr>Poppins Bold</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Sunan: Buket Mercan, Veri analisti</dc:title>
  <dc:creator>Nicolas Chrysochos</dc:creator>
  <cp:lastModifiedBy>Nicolas Chrysochos</cp:lastModifiedBy>
  <cp:revision>9</cp:revision>
  <dcterms:created xsi:type="dcterms:W3CDTF">2006-08-16T00:00:00Z</dcterms:created>
  <dcterms:modified xsi:type="dcterms:W3CDTF">2026-08-06T11:31:31Z</dcterms:modified>
  <dc:identifier>DAHRbVW9rs0</dc:identifier>
</cp:coreProperties>
</file>